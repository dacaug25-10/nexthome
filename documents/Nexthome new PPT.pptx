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21"/>
  </p:notesMasterIdLst>
  <p:sldIdLst>
    <p:sldId id="274" r:id="rId2"/>
    <p:sldId id="256" r:id="rId3"/>
    <p:sldId id="257" r:id="rId4"/>
    <p:sldId id="276" r:id="rId5"/>
    <p:sldId id="259" r:id="rId6"/>
    <p:sldId id="260" r:id="rId7"/>
    <p:sldId id="277" r:id="rId8"/>
    <p:sldId id="287" r:id="rId9"/>
    <p:sldId id="278" r:id="rId10"/>
    <p:sldId id="279" r:id="rId11"/>
    <p:sldId id="280" r:id="rId12"/>
    <p:sldId id="261" r:id="rId13"/>
    <p:sldId id="281" r:id="rId14"/>
    <p:sldId id="282" r:id="rId15"/>
    <p:sldId id="284" r:id="rId16"/>
    <p:sldId id="285" r:id="rId17"/>
    <p:sldId id="286" r:id="rId18"/>
    <p:sldId id="283" r:id="rId19"/>
    <p:sldId id="264" r:id="rId20"/>
  </p:sldIdLst>
  <p:sldSz cx="14630400" cy="8229600"/>
  <p:notesSz cx="8229600" cy="14630400"/>
  <p:embeddedFontLst>
    <p:embeddedFont>
      <p:font typeface="Gelasio" panose="020B0604020202020204" charset="0"/>
      <p:regular r:id="rId22"/>
    </p:embeddedFont>
    <p:embeddedFont>
      <p:font typeface="Lato" panose="020F0502020204030203"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ksham pandey" initials="sp" lastIdx="1" clrIdx="0">
    <p:extLst>
      <p:ext uri="{19B8F6BF-5375-455C-9EA6-DF929625EA0E}">
        <p15:presenceInfo xmlns:p15="http://schemas.microsoft.com/office/powerpoint/2012/main" userId="2202e27d4eee15d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2" y="48"/>
      </p:cViewPr>
      <p:guideLst>
        <p:guide orient="horz" pos="2592"/>
        <p:guide pos="46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D8C4-2647-DFDF-105A-33CD081A8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A03C8-23A0-3A09-D9DF-B59EA0484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3B35E-F7E7-45D9-294E-CEDD1A7CFF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E19DD3-A0E4-88AB-8A1A-93FECC71599F}"/>
              </a:ext>
            </a:extLst>
          </p:cNvPr>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304305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022D7-4098-A08F-127C-C138F0CFB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8974A-D23A-0834-E92C-8BA74E86EC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5C83D-1EDF-1897-3B86-7BB974D76F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E1EE66-2CB1-8559-25B0-48B701A4A326}"/>
              </a:ext>
            </a:extLst>
          </p:cNvPr>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2401352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5A9AF-EC23-2B5E-E13F-4AEC0C0FA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6FE68-5A05-7130-57AD-0BC07FB94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D7DDD-70E6-61E9-F0B7-C3F4D3F226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94717-A222-8F66-8AE6-EF7D3F6CE757}"/>
              </a:ext>
            </a:extLst>
          </p:cNvPr>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421140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A3B0C-9AB6-92A9-B5BD-C24452A72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00F55-D2B4-5FDD-4DCA-1A6DE724A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D4609-78D5-C62A-E074-9DFED6763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105072-EDC1-1522-82B1-A39CC0848A50}"/>
              </a:ext>
            </a:extLst>
          </p:cNvPr>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3611852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8AC0-92CD-CBFF-7DCC-E90D76B1B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BFAED-43FB-C66D-A77A-593605A2B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04014-80DE-9D0F-6B07-DD46B2C000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887B0-2FF3-E78A-2BE9-897163554AAC}"/>
              </a:ext>
            </a:extLst>
          </p:cNvPr>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3053276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FBE7A-30CB-ED27-D150-E33D0D95F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7F409-FD54-09EE-E96A-3DD0013B4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8A474-E4EF-825A-3EBD-B9A085FC52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7AAC1F-F0ED-F484-37FE-63BAF01E7745}"/>
              </a:ext>
            </a:extLst>
          </p:cNvPr>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43767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2"/>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653077" indent="0" algn="ctr">
              <a:buNone/>
              <a:defRPr>
                <a:solidFill>
                  <a:schemeClr val="tx1">
                    <a:tint val="75000"/>
                  </a:schemeClr>
                </a:solidFill>
              </a:defRPr>
            </a:lvl2pPr>
            <a:lvl3pPr marL="1306155" indent="0" algn="ctr">
              <a:buNone/>
              <a:defRPr>
                <a:solidFill>
                  <a:schemeClr val="tx1">
                    <a:tint val="75000"/>
                  </a:schemeClr>
                </a:solidFill>
              </a:defRPr>
            </a:lvl3pPr>
            <a:lvl4pPr marL="1959233" indent="0" algn="ctr">
              <a:buNone/>
              <a:defRPr>
                <a:solidFill>
                  <a:schemeClr val="tx1">
                    <a:tint val="75000"/>
                  </a:schemeClr>
                </a:solidFill>
              </a:defRPr>
            </a:lvl4pPr>
            <a:lvl5pPr marL="2612311" indent="0" algn="ctr">
              <a:buNone/>
              <a:defRPr>
                <a:solidFill>
                  <a:schemeClr val="tx1">
                    <a:tint val="75000"/>
                  </a:schemeClr>
                </a:solidFill>
              </a:defRPr>
            </a:lvl5pPr>
            <a:lvl6pPr marL="3265388" indent="0" algn="ctr">
              <a:buNone/>
              <a:defRPr>
                <a:solidFill>
                  <a:schemeClr val="tx1">
                    <a:tint val="75000"/>
                  </a:schemeClr>
                </a:solidFill>
              </a:defRPr>
            </a:lvl6pPr>
            <a:lvl7pPr marL="3918465" indent="0" algn="ctr">
              <a:buNone/>
              <a:defRPr>
                <a:solidFill>
                  <a:schemeClr val="tx1">
                    <a:tint val="75000"/>
                  </a:schemeClr>
                </a:solidFill>
              </a:defRPr>
            </a:lvl7pPr>
            <a:lvl8pPr marL="4571543" indent="0" algn="ctr">
              <a:buNone/>
              <a:defRPr>
                <a:solidFill>
                  <a:schemeClr val="tx1">
                    <a:tint val="75000"/>
                  </a:schemeClr>
                </a:solidFill>
              </a:defRPr>
            </a:lvl8pPr>
            <a:lvl9pPr marL="52246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FCC83B-BCE2-421D-BFBE-0D83F2E4A357}"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FCC83B-BCE2-421D-BFBE-0D83F2E4A357}"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5288282"/>
            <a:ext cx="12435840" cy="1634490"/>
          </a:xfrm>
        </p:spPr>
        <p:txBody>
          <a:bodyPr anchor="t"/>
          <a:lstStyle>
            <a:lvl1pPr algn="l">
              <a:defRPr sz="5700" b="1" cap="all"/>
            </a:lvl1pPr>
          </a:lstStyle>
          <a:p>
            <a:r>
              <a:rPr lang="en-US"/>
              <a:t>Click to edit Master title style</a:t>
            </a:r>
          </a:p>
        </p:txBody>
      </p:sp>
      <p:sp>
        <p:nvSpPr>
          <p:cNvPr id="3" name="Text Placeholder 2"/>
          <p:cNvSpPr>
            <a:spLocks noGrp="1"/>
          </p:cNvSpPr>
          <p:nvPr>
            <p:ph type="body" idx="1"/>
          </p:nvPr>
        </p:nvSpPr>
        <p:spPr>
          <a:xfrm>
            <a:off x="1155701" y="3488056"/>
            <a:ext cx="12435840" cy="1800224"/>
          </a:xfrm>
        </p:spPr>
        <p:txBody>
          <a:bodyPr anchor="b"/>
          <a:lstStyle>
            <a:lvl1pPr marL="0" indent="0">
              <a:buNone/>
              <a:defRPr sz="2900">
                <a:solidFill>
                  <a:schemeClr val="tx1">
                    <a:tint val="75000"/>
                  </a:schemeClr>
                </a:solidFill>
              </a:defRPr>
            </a:lvl1pPr>
            <a:lvl2pPr marL="653077" indent="0">
              <a:buNone/>
              <a:defRPr sz="2600">
                <a:solidFill>
                  <a:schemeClr val="tx1">
                    <a:tint val="75000"/>
                  </a:schemeClr>
                </a:solidFill>
              </a:defRPr>
            </a:lvl2pPr>
            <a:lvl3pPr marL="1306155" indent="0">
              <a:buNone/>
              <a:defRPr sz="2300">
                <a:solidFill>
                  <a:schemeClr val="tx1">
                    <a:tint val="75000"/>
                  </a:schemeClr>
                </a:solidFill>
              </a:defRPr>
            </a:lvl3pPr>
            <a:lvl4pPr marL="1959233" indent="0">
              <a:buNone/>
              <a:defRPr sz="2000">
                <a:solidFill>
                  <a:schemeClr val="tx1">
                    <a:tint val="75000"/>
                  </a:schemeClr>
                </a:solidFill>
              </a:defRPr>
            </a:lvl4pPr>
            <a:lvl5pPr marL="2612311" indent="0">
              <a:buNone/>
              <a:defRPr sz="2000">
                <a:solidFill>
                  <a:schemeClr val="tx1">
                    <a:tint val="75000"/>
                  </a:schemeClr>
                </a:solidFill>
              </a:defRPr>
            </a:lvl5pPr>
            <a:lvl6pPr marL="3265388" indent="0">
              <a:buNone/>
              <a:defRPr sz="2000">
                <a:solidFill>
                  <a:schemeClr val="tx1">
                    <a:tint val="75000"/>
                  </a:schemeClr>
                </a:solidFill>
              </a:defRPr>
            </a:lvl6pPr>
            <a:lvl7pPr marL="3918465" indent="0">
              <a:buNone/>
              <a:defRPr sz="2000">
                <a:solidFill>
                  <a:schemeClr val="tx1">
                    <a:tint val="75000"/>
                  </a:schemeClr>
                </a:solidFill>
              </a:defRPr>
            </a:lvl7pPr>
            <a:lvl8pPr marL="4571543" indent="0">
              <a:buNone/>
              <a:defRPr sz="2000">
                <a:solidFill>
                  <a:schemeClr val="tx1">
                    <a:tint val="75000"/>
                  </a:schemeClr>
                </a:solidFill>
              </a:defRPr>
            </a:lvl8pPr>
            <a:lvl9pPr marL="5224620"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CC83B-BCE2-421D-BFBE-0D83F2E4A357}"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0941" y="2305050"/>
            <a:ext cx="10411459" cy="651700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826242" y="2305050"/>
            <a:ext cx="10411461" cy="651700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FCC83B-BCE2-421D-BFBE-0D83F2E4A357}"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1520" y="329566"/>
            <a:ext cx="13167360" cy="1371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0" y="1842136"/>
            <a:ext cx="6464301" cy="767714"/>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4" name="Content Placeholder 3"/>
          <p:cNvSpPr>
            <a:spLocks noGrp="1"/>
          </p:cNvSpPr>
          <p:nvPr>
            <p:ph sz="half" idx="2"/>
          </p:nvPr>
        </p:nvSpPr>
        <p:spPr>
          <a:xfrm>
            <a:off x="731520" y="2609850"/>
            <a:ext cx="6464301"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2" y="1842136"/>
            <a:ext cx="6466840" cy="767714"/>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6" name="Content Placeholder 5"/>
          <p:cNvSpPr>
            <a:spLocks noGrp="1"/>
          </p:cNvSpPr>
          <p:nvPr>
            <p:ph sz="quarter" idx="4"/>
          </p:nvPr>
        </p:nvSpPr>
        <p:spPr>
          <a:xfrm>
            <a:off x="7432042" y="2609850"/>
            <a:ext cx="6466840"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FCC83B-BCE2-421D-BFBE-0D83F2E4A357}"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FCC83B-BCE2-421D-BFBE-0D83F2E4A357}"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CC83B-BCE2-421D-BFBE-0D83F2E4A357}"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2" y="327660"/>
            <a:ext cx="4813301" cy="1394460"/>
          </a:xfrm>
        </p:spPr>
        <p:txBody>
          <a:bodyPr anchor="b"/>
          <a:lstStyle>
            <a:lvl1pPr algn="l">
              <a:defRPr sz="2900" b="1"/>
            </a:lvl1pPr>
          </a:lstStyle>
          <a:p>
            <a:r>
              <a:rPr lang="en-US"/>
              <a:t>Click to edit Master title style</a:t>
            </a:r>
          </a:p>
        </p:txBody>
      </p:sp>
      <p:sp>
        <p:nvSpPr>
          <p:cNvPr id="3" name="Content Placeholder 2"/>
          <p:cNvSpPr>
            <a:spLocks noGrp="1"/>
          </p:cNvSpPr>
          <p:nvPr>
            <p:ph idx="1"/>
          </p:nvPr>
        </p:nvSpPr>
        <p:spPr>
          <a:xfrm>
            <a:off x="5720080" y="327660"/>
            <a:ext cx="8178800" cy="7023736"/>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2" y="1722120"/>
            <a:ext cx="4813301" cy="5629276"/>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EFCC83B-BCE2-421D-BFBE-0D83F2E4A357}"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1" y="5760720"/>
            <a:ext cx="8778240" cy="680086"/>
          </a:xfrm>
        </p:spPr>
        <p:txBody>
          <a:bodyPr anchor="b"/>
          <a:lstStyle>
            <a:lvl1pPr algn="l">
              <a:defRPr sz="2900" b="1"/>
            </a:lvl1pPr>
          </a:lstStyle>
          <a:p>
            <a:r>
              <a:rPr lang="en-US"/>
              <a:t>Click to edit Master title style</a:t>
            </a:r>
          </a:p>
        </p:txBody>
      </p:sp>
      <p:sp>
        <p:nvSpPr>
          <p:cNvPr id="3" name="Picture Placeholder 2"/>
          <p:cNvSpPr>
            <a:spLocks noGrp="1"/>
          </p:cNvSpPr>
          <p:nvPr>
            <p:ph type="pic" idx="1"/>
          </p:nvPr>
        </p:nvSpPr>
        <p:spPr>
          <a:xfrm>
            <a:off x="2867661" y="735330"/>
            <a:ext cx="8778240" cy="4937760"/>
          </a:xfrm>
        </p:spPr>
        <p:txBody>
          <a:bodyPr/>
          <a:lstStyle>
            <a:lvl1pPr marL="0" indent="0">
              <a:buNone/>
              <a:defRPr sz="4600"/>
            </a:lvl1pPr>
            <a:lvl2pPr marL="653077" indent="0">
              <a:buNone/>
              <a:defRPr sz="4000"/>
            </a:lvl2pPr>
            <a:lvl3pPr marL="1306155" indent="0">
              <a:buNone/>
              <a:defRPr sz="3400"/>
            </a:lvl3pPr>
            <a:lvl4pPr marL="1959233" indent="0">
              <a:buNone/>
              <a:defRPr sz="2900"/>
            </a:lvl4pPr>
            <a:lvl5pPr marL="2612311" indent="0">
              <a:buNone/>
              <a:defRPr sz="2900"/>
            </a:lvl5pPr>
            <a:lvl6pPr marL="3265388" indent="0">
              <a:buNone/>
              <a:defRPr sz="2900"/>
            </a:lvl6pPr>
            <a:lvl7pPr marL="3918465" indent="0">
              <a:buNone/>
              <a:defRPr sz="2900"/>
            </a:lvl7pPr>
            <a:lvl8pPr marL="4571543" indent="0">
              <a:buNone/>
              <a:defRPr sz="2900"/>
            </a:lvl8pPr>
            <a:lvl9pPr marL="5224620" indent="0">
              <a:buNone/>
              <a:defRPr sz="2900"/>
            </a:lvl9pPr>
          </a:lstStyle>
          <a:p>
            <a:endParaRPr lang="en-US"/>
          </a:p>
        </p:txBody>
      </p:sp>
      <p:sp>
        <p:nvSpPr>
          <p:cNvPr id="4" name="Text Placeholder 3"/>
          <p:cNvSpPr>
            <a:spLocks noGrp="1"/>
          </p:cNvSpPr>
          <p:nvPr>
            <p:ph type="body" sz="half" idx="2"/>
          </p:nvPr>
        </p:nvSpPr>
        <p:spPr>
          <a:xfrm>
            <a:off x="2867661" y="6440806"/>
            <a:ext cx="8778240" cy="965834"/>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EFCC83B-BCE2-421D-BFBE-0D83F2E4A357}"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FCC83B-BCE2-421D-BFBE-0D83F2E4A357}"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972280" y="396240"/>
            <a:ext cx="5265421" cy="842581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0943" y="396240"/>
            <a:ext cx="15557499" cy="84258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FCC83B-BCE2-421D-BFBE-0D83F2E4A357}"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51E74-1107-4EF5-82B6-F1442BFB00CA}"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1520" y="329566"/>
            <a:ext cx="13167360" cy="1371600"/>
          </a:xfrm>
          <a:prstGeom prst="rect">
            <a:avLst/>
          </a:prstGeom>
        </p:spPr>
        <p:txBody>
          <a:bodyPr vert="horz" lIns="130615" tIns="65308" rIns="130615" bIns="65308" rtlCol="0" anchor="ctr">
            <a:normAutofit/>
          </a:bodyPr>
          <a:lstStyle/>
          <a:p>
            <a:r>
              <a:rPr lang="en-US"/>
              <a:t>Click to edit Master title style</a:t>
            </a:r>
          </a:p>
        </p:txBody>
      </p:sp>
      <p:sp>
        <p:nvSpPr>
          <p:cNvPr id="3" name="Text Placeholder 2"/>
          <p:cNvSpPr>
            <a:spLocks noGrp="1"/>
          </p:cNvSpPr>
          <p:nvPr>
            <p:ph type="body" idx="1"/>
          </p:nvPr>
        </p:nvSpPr>
        <p:spPr>
          <a:xfrm>
            <a:off x="731520" y="1920240"/>
            <a:ext cx="13167360" cy="5431156"/>
          </a:xfrm>
          <a:prstGeom prst="rect">
            <a:avLst/>
          </a:prstGeom>
        </p:spPr>
        <p:txBody>
          <a:bodyPr vert="horz" lIns="130615" tIns="65308" rIns="130615" bIns="653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1520" y="7627622"/>
            <a:ext cx="3413760" cy="438150"/>
          </a:xfrm>
          <a:prstGeom prst="rect">
            <a:avLst/>
          </a:prstGeom>
        </p:spPr>
        <p:txBody>
          <a:bodyPr vert="horz" lIns="130615" tIns="65308" rIns="130615" bIns="65308" rtlCol="0" anchor="ctr"/>
          <a:lstStyle>
            <a:lvl1pPr algn="l">
              <a:defRPr sz="1700">
                <a:solidFill>
                  <a:schemeClr val="tx1">
                    <a:tint val="75000"/>
                  </a:schemeClr>
                </a:solidFill>
              </a:defRPr>
            </a:lvl1pPr>
          </a:lstStyle>
          <a:p>
            <a:fld id="{1EFCC83B-BCE2-421D-BFBE-0D83F2E4A357}" type="datetimeFigureOut">
              <a:rPr lang="en-US" smtClean="0"/>
              <a:t>2/5/2026</a:t>
            </a:fld>
            <a:endParaRPr lang="en-US"/>
          </a:p>
        </p:txBody>
      </p:sp>
      <p:sp>
        <p:nvSpPr>
          <p:cNvPr id="5" name="Footer Placeholder 4"/>
          <p:cNvSpPr>
            <a:spLocks noGrp="1"/>
          </p:cNvSpPr>
          <p:nvPr>
            <p:ph type="ftr" sz="quarter" idx="3"/>
          </p:nvPr>
        </p:nvSpPr>
        <p:spPr>
          <a:xfrm>
            <a:off x="4998720" y="7627622"/>
            <a:ext cx="4632960" cy="438150"/>
          </a:xfrm>
          <a:prstGeom prst="rect">
            <a:avLst/>
          </a:prstGeom>
        </p:spPr>
        <p:txBody>
          <a:bodyPr vert="horz" lIns="130615" tIns="65308" rIns="130615" bIns="65308"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85120" y="7627622"/>
            <a:ext cx="3413760" cy="438150"/>
          </a:xfrm>
          <a:prstGeom prst="rect">
            <a:avLst/>
          </a:prstGeom>
        </p:spPr>
        <p:txBody>
          <a:bodyPr vert="horz" lIns="130615" tIns="65308" rIns="130615" bIns="65308" rtlCol="0" anchor="ctr"/>
          <a:lstStyle>
            <a:lvl1pPr algn="r">
              <a:defRPr sz="1700">
                <a:solidFill>
                  <a:schemeClr val="tx1">
                    <a:tint val="75000"/>
                  </a:schemeClr>
                </a:solidFill>
              </a:defRPr>
            </a:lvl1pPr>
          </a:lstStyle>
          <a:p>
            <a:fld id="{CBC51E74-1107-4EF5-82B6-F1442BFB00C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80" r:id="rId17"/>
  </p:sldLayoutIdLst>
  <p:hf sldNum="0" hdr="0" ftr="0" dt="0"/>
  <p:txStyles>
    <p:titleStyle>
      <a:lvl1pPr algn="ctr" defTabSz="1306155" rtl="0" eaLnBrk="1" latinLnBrk="0" hangingPunct="1">
        <a:spcBef>
          <a:spcPct val="0"/>
        </a:spcBef>
        <a:buNone/>
        <a:defRPr sz="6300" kern="1200">
          <a:solidFill>
            <a:schemeClr val="tx1"/>
          </a:solidFill>
          <a:latin typeface="+mj-lt"/>
          <a:ea typeface="+mj-ea"/>
          <a:cs typeface="+mj-cs"/>
        </a:defRPr>
      </a:lvl1pPr>
    </p:titleStyle>
    <p:bodyStyle>
      <a:lvl1pPr marL="489808" indent="-489808" algn="l" defTabSz="1306155" rtl="0" eaLnBrk="1" latinLnBrk="0" hangingPunct="1">
        <a:spcBef>
          <a:spcPct val="20000"/>
        </a:spcBef>
        <a:buFont typeface="Arial" pitchFamily="34" charset="0"/>
        <a:buChar char="•"/>
        <a:defRPr sz="4600" kern="1200">
          <a:solidFill>
            <a:schemeClr val="tx1"/>
          </a:solidFill>
          <a:latin typeface="+mn-lt"/>
          <a:ea typeface="+mn-ea"/>
          <a:cs typeface="+mn-cs"/>
        </a:defRPr>
      </a:lvl1pPr>
      <a:lvl2pPr marL="1061251" indent="-408174" algn="l" defTabSz="1306155" rtl="0" eaLnBrk="1" latinLnBrk="0" hangingPunct="1">
        <a:spcBef>
          <a:spcPct val="20000"/>
        </a:spcBef>
        <a:buFont typeface="Arial" pitchFamily="34" charset="0"/>
        <a:buChar char="–"/>
        <a:defRPr sz="4000" kern="1200">
          <a:solidFill>
            <a:schemeClr val="tx1"/>
          </a:solidFill>
          <a:latin typeface="+mn-lt"/>
          <a:ea typeface="+mn-ea"/>
          <a:cs typeface="+mn-cs"/>
        </a:defRPr>
      </a:lvl2pPr>
      <a:lvl3pPr marL="1632694" indent="-326539" algn="l" defTabSz="1306155"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85771"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4pPr>
      <a:lvl5pPr marL="2938849"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5pPr>
      <a:lvl6pPr marL="3591926"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6pPr>
      <a:lvl7pPr marL="4245003"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7pPr>
      <a:lvl8pPr marL="4898082"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8pPr>
      <a:lvl9pPr marL="5551160" indent="-326539" algn="l" defTabSz="1306155" rtl="0" eaLnBrk="1" latinLnBrk="0" hangingPunct="1">
        <a:spcBef>
          <a:spcPct val="20000"/>
        </a:spcBef>
        <a:buFont typeface="Arial" pitchFamily="34" charset="0"/>
        <a:buChar char="•"/>
        <a:defRPr sz="2900" kern="1200">
          <a:solidFill>
            <a:schemeClr val="tx1"/>
          </a:solidFill>
          <a:latin typeface="+mn-lt"/>
          <a:ea typeface="+mn-ea"/>
          <a:cs typeface="+mn-cs"/>
        </a:defRPr>
      </a:lvl9pPr>
    </p:bodyStyle>
    <p:otherStyle>
      <a:defPPr>
        <a:defRPr lang="en-US"/>
      </a:defPPr>
      <a:lvl1pPr marL="0" algn="l" defTabSz="1306155" rtl="0" eaLnBrk="1" latinLnBrk="0" hangingPunct="1">
        <a:defRPr sz="2600" kern="1200">
          <a:solidFill>
            <a:schemeClr val="tx1"/>
          </a:solidFill>
          <a:latin typeface="+mn-lt"/>
          <a:ea typeface="+mn-ea"/>
          <a:cs typeface="+mn-cs"/>
        </a:defRPr>
      </a:lvl1pPr>
      <a:lvl2pPr marL="653077" algn="l" defTabSz="1306155" rtl="0" eaLnBrk="1" latinLnBrk="0" hangingPunct="1">
        <a:defRPr sz="2600" kern="1200">
          <a:solidFill>
            <a:schemeClr val="tx1"/>
          </a:solidFill>
          <a:latin typeface="+mn-lt"/>
          <a:ea typeface="+mn-ea"/>
          <a:cs typeface="+mn-cs"/>
        </a:defRPr>
      </a:lvl2pPr>
      <a:lvl3pPr marL="1306155" algn="l" defTabSz="1306155" rtl="0" eaLnBrk="1" latinLnBrk="0" hangingPunct="1">
        <a:defRPr sz="2600" kern="1200">
          <a:solidFill>
            <a:schemeClr val="tx1"/>
          </a:solidFill>
          <a:latin typeface="+mn-lt"/>
          <a:ea typeface="+mn-ea"/>
          <a:cs typeface="+mn-cs"/>
        </a:defRPr>
      </a:lvl3pPr>
      <a:lvl4pPr marL="1959233" algn="l" defTabSz="1306155" rtl="0" eaLnBrk="1" latinLnBrk="0" hangingPunct="1">
        <a:defRPr sz="2600" kern="1200">
          <a:solidFill>
            <a:schemeClr val="tx1"/>
          </a:solidFill>
          <a:latin typeface="+mn-lt"/>
          <a:ea typeface="+mn-ea"/>
          <a:cs typeface="+mn-cs"/>
        </a:defRPr>
      </a:lvl4pPr>
      <a:lvl5pPr marL="2612311" algn="l" defTabSz="1306155" rtl="0" eaLnBrk="1" latinLnBrk="0" hangingPunct="1">
        <a:defRPr sz="2600" kern="1200">
          <a:solidFill>
            <a:schemeClr val="tx1"/>
          </a:solidFill>
          <a:latin typeface="+mn-lt"/>
          <a:ea typeface="+mn-ea"/>
          <a:cs typeface="+mn-cs"/>
        </a:defRPr>
      </a:lvl5pPr>
      <a:lvl6pPr marL="3265388" algn="l" defTabSz="1306155" rtl="0" eaLnBrk="1" latinLnBrk="0" hangingPunct="1">
        <a:defRPr sz="2600" kern="1200">
          <a:solidFill>
            <a:schemeClr val="tx1"/>
          </a:solidFill>
          <a:latin typeface="+mn-lt"/>
          <a:ea typeface="+mn-ea"/>
          <a:cs typeface="+mn-cs"/>
        </a:defRPr>
      </a:lvl6pPr>
      <a:lvl7pPr marL="3918465" algn="l" defTabSz="1306155" rtl="0" eaLnBrk="1" latinLnBrk="0" hangingPunct="1">
        <a:defRPr sz="2600" kern="1200">
          <a:solidFill>
            <a:schemeClr val="tx1"/>
          </a:solidFill>
          <a:latin typeface="+mn-lt"/>
          <a:ea typeface="+mn-ea"/>
          <a:cs typeface="+mn-cs"/>
        </a:defRPr>
      </a:lvl7pPr>
      <a:lvl8pPr marL="4571543" algn="l" defTabSz="1306155" rtl="0" eaLnBrk="1" latinLnBrk="0" hangingPunct="1">
        <a:defRPr sz="2600" kern="1200">
          <a:solidFill>
            <a:schemeClr val="tx1"/>
          </a:solidFill>
          <a:latin typeface="+mn-lt"/>
          <a:ea typeface="+mn-ea"/>
          <a:cs typeface="+mn-cs"/>
        </a:defRPr>
      </a:lvl8pPr>
      <a:lvl9pPr marL="5224620" algn="l" defTabSz="1306155"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latin typeface="Gelasio" panose="020B0604020202020204" charset="0"/>
                <a:cs typeface="Gelasio" panose="020B0604020202020204" charset="0"/>
              </a:rPr>
              <a:t>NextHome</a:t>
            </a:r>
            <a:endParaRPr lang="en-US" dirty="0">
              <a:latin typeface="Gelasio" panose="020B0604020202020204" charset="0"/>
              <a:cs typeface="Gelasio" panose="020B0604020202020204" charset="0"/>
            </a:endParaRPr>
          </a:p>
        </p:txBody>
      </p:sp>
      <p:sp>
        <p:nvSpPr>
          <p:cNvPr id="3" name="Content Placeholder 2"/>
          <p:cNvSpPr>
            <a:spLocks noGrp="1"/>
          </p:cNvSpPr>
          <p:nvPr>
            <p:ph idx="1"/>
          </p:nvPr>
        </p:nvSpPr>
        <p:spPr>
          <a:xfrm>
            <a:off x="731519" y="2215612"/>
            <a:ext cx="13392817" cy="5135783"/>
          </a:xfrm>
        </p:spPr>
        <p:txBody>
          <a:bodyPr>
            <a:normAutofit fontScale="77500" lnSpcReduction="20000"/>
          </a:bodyPr>
          <a:lstStyle/>
          <a:p>
            <a:endParaRPr lang="en-US" dirty="0">
              <a:latin typeface="Times New Roman" pitchFamily="18" charset="0"/>
              <a:cs typeface="Times New Roman" pitchFamily="18" charset="0"/>
            </a:endParaRPr>
          </a:p>
          <a:p>
            <a:pPr marL="0" indent="0">
              <a:buNone/>
            </a:pPr>
            <a:r>
              <a:rPr lang="en-US" sz="3900" b="1" u="sng" dirty="0">
                <a:latin typeface="Times New Roman" pitchFamily="18" charset="0"/>
                <a:cs typeface="Times New Roman" pitchFamily="18" charset="0"/>
              </a:rPr>
              <a:t>Created by Group No. 10</a:t>
            </a:r>
          </a:p>
          <a:p>
            <a:endParaRPr lang="en-US" sz="3900" b="1" u="sng" dirty="0">
              <a:latin typeface="Times New Roman" pitchFamily="18" charset="0"/>
              <a:cs typeface="Times New Roman" pitchFamily="18" charset="0"/>
            </a:endParaRPr>
          </a:p>
          <a:p>
            <a:pPr marL="742950" indent="-742950">
              <a:buFont typeface="+mj-lt"/>
              <a:buAutoNum type="arabicPeriod"/>
            </a:pPr>
            <a:r>
              <a:rPr lang="en-US" sz="3900" dirty="0">
                <a:latin typeface="Times New Roman" pitchFamily="18" charset="0"/>
                <a:cs typeface="Times New Roman" pitchFamily="18" charset="0"/>
              </a:rPr>
              <a:t>Alpesh </a:t>
            </a:r>
            <a:r>
              <a:rPr lang="en-US" sz="3900" dirty="0" err="1">
                <a:latin typeface="Times New Roman" pitchFamily="18" charset="0"/>
                <a:cs typeface="Times New Roman" pitchFamily="18" charset="0"/>
              </a:rPr>
              <a:t>Chandankhede</a:t>
            </a:r>
            <a:r>
              <a:rPr lang="en-US" sz="3900" dirty="0">
                <a:latin typeface="Times New Roman" pitchFamily="18" charset="0"/>
                <a:cs typeface="Times New Roman" pitchFamily="18" charset="0"/>
              </a:rPr>
              <a:t> (250843020011)</a:t>
            </a:r>
          </a:p>
          <a:p>
            <a:pPr marL="742950" indent="-742950">
              <a:buFont typeface="+mj-lt"/>
              <a:buAutoNum type="arabicPeriod"/>
            </a:pPr>
            <a:r>
              <a:rPr lang="en-US" sz="3900" dirty="0">
                <a:latin typeface="Times New Roman" pitchFamily="18" charset="0"/>
                <a:cs typeface="Times New Roman" pitchFamily="18" charset="0"/>
              </a:rPr>
              <a:t>Raj Kumar (250843020074)</a:t>
            </a:r>
          </a:p>
          <a:p>
            <a:pPr marL="742950" indent="-742950">
              <a:buFont typeface="+mj-lt"/>
              <a:buAutoNum type="arabicPeriod"/>
            </a:pPr>
            <a:r>
              <a:rPr lang="en-US" sz="3900" dirty="0">
                <a:latin typeface="Times New Roman" pitchFamily="18" charset="0"/>
                <a:cs typeface="Times New Roman" pitchFamily="18" charset="0"/>
              </a:rPr>
              <a:t>Saksham Pandey (250843020082)</a:t>
            </a:r>
          </a:p>
          <a:p>
            <a:pPr marL="742950" indent="-742950">
              <a:buFont typeface="+mj-lt"/>
              <a:buAutoNum type="arabicPeriod"/>
            </a:pPr>
            <a:r>
              <a:rPr lang="en-US" sz="3900" dirty="0">
                <a:latin typeface="Times New Roman" pitchFamily="18" charset="0"/>
                <a:cs typeface="Times New Roman" pitchFamily="18" charset="0"/>
              </a:rPr>
              <a:t>Suraj Patil (250843020101)</a:t>
            </a:r>
          </a:p>
          <a:p>
            <a:pPr marL="742950" indent="-742950">
              <a:buFont typeface="+mj-lt"/>
              <a:buAutoNum type="arabicPeriod"/>
            </a:pPr>
            <a:endParaRPr lang="en-US" sz="3900" dirty="0">
              <a:latin typeface="Times New Roman" pitchFamily="18" charset="0"/>
              <a:cs typeface="Times New Roman" pitchFamily="18" charset="0"/>
            </a:endParaRPr>
          </a:p>
          <a:p>
            <a:pPr algn="r">
              <a:buNone/>
            </a:pPr>
            <a:r>
              <a:rPr lang="en-US" dirty="0">
                <a:latin typeface="Times New Roman" pitchFamily="18" charset="0"/>
                <a:cs typeface="Times New Roman" pitchFamily="18" charset="0"/>
              </a:rPr>
              <a:t>Mentor :</a:t>
            </a:r>
          </a:p>
          <a:p>
            <a:pPr algn="r">
              <a:buNone/>
            </a:pPr>
            <a:r>
              <a:rPr lang="en-US" dirty="0">
                <a:latin typeface="Times New Roman" pitchFamily="18" charset="0"/>
                <a:cs typeface="Times New Roman" pitchFamily="18" charset="0"/>
              </a:rPr>
              <a:t>Mr. Pratik Kamble</a:t>
            </a:r>
          </a:p>
        </p:txBody>
      </p:sp>
      <p:pic>
        <p:nvPicPr>
          <p:cNvPr id="5" name="Picture 4" descr="cdac-logo.png"/>
          <p:cNvPicPr>
            <a:picLocks noChangeAspect="1"/>
          </p:cNvPicPr>
          <p:nvPr/>
        </p:nvPicPr>
        <p:blipFill>
          <a:blip r:embed="rId2"/>
          <a:stretch>
            <a:fillRect/>
          </a:stretch>
        </p:blipFill>
        <p:spPr>
          <a:xfrm>
            <a:off x="11365230" y="729616"/>
            <a:ext cx="2533650" cy="971550"/>
          </a:xfrm>
          <a:prstGeom prst="rect">
            <a:avLst/>
          </a:prstGeom>
        </p:spPr>
      </p:pic>
      <p:pic>
        <p:nvPicPr>
          <p:cNvPr id="7" name="Picture 6">
            <a:extLst>
              <a:ext uri="{FF2B5EF4-FFF2-40B4-BE49-F238E27FC236}">
                <a16:creationId xmlns:a16="http://schemas.microsoft.com/office/drawing/2014/main" id="{045A000A-C695-247D-C1C0-F82F7BCFAF18}"/>
              </a:ext>
            </a:extLst>
          </p:cNvPr>
          <p:cNvPicPr>
            <a:picLocks noChangeAspect="1"/>
          </p:cNvPicPr>
          <p:nvPr/>
        </p:nvPicPr>
        <p:blipFill>
          <a:blip r:embed="rId3"/>
          <a:stretch>
            <a:fillRect/>
          </a:stretch>
        </p:blipFill>
        <p:spPr>
          <a:xfrm>
            <a:off x="506064" y="272367"/>
            <a:ext cx="1835244" cy="18860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165931" y="555585"/>
            <a:ext cx="5727621" cy="3765309"/>
          </a:xfrm>
          <a:prstGeom prst="rect">
            <a:avLst/>
          </a:prstGeom>
          <a:noFill/>
          <a:ln/>
        </p:spPr>
        <p:txBody>
          <a:bodyPr wrap="square" lIns="0" tIns="0" rIns="0" bIns="0" rtlCol="0" anchor="t"/>
          <a:lstStyle/>
          <a:p>
            <a:pPr marL="0" indent="0" algn="ctr">
              <a:lnSpc>
                <a:spcPts val="5550"/>
              </a:lnSpc>
              <a:buNone/>
            </a:pPr>
            <a:r>
              <a:rPr lang="en-US" sz="4450" dirty="0" err="1">
                <a:latin typeface="Gelasio" panose="020B0604020202020204" charset="0"/>
                <a:cs typeface="Gelasio" panose="020B0604020202020204" charset="0"/>
              </a:rPr>
              <a:t>Nexthome</a:t>
            </a:r>
            <a:r>
              <a:rPr lang="en-US" sz="4450" dirty="0">
                <a:latin typeface="Gelasio" panose="020B0604020202020204" charset="0"/>
                <a:cs typeface="Gelasio" panose="020B0604020202020204" charset="0"/>
              </a:rPr>
              <a:t> </a:t>
            </a:r>
          </a:p>
        </p:txBody>
      </p:sp>
      <p:sp>
        <p:nvSpPr>
          <p:cNvPr id="4" name="Text 1"/>
          <p:cNvSpPr/>
          <p:nvPr/>
        </p:nvSpPr>
        <p:spPr>
          <a:xfrm>
            <a:off x="678043" y="3596186"/>
            <a:ext cx="5727621" cy="3672716"/>
          </a:xfrm>
          <a:prstGeom prst="rect">
            <a:avLst/>
          </a:prstGeom>
          <a:noFill/>
          <a:ln/>
        </p:spPr>
        <p:txBody>
          <a:bodyPr wrap="square" lIns="0" tIns="0" rIns="0" bIns="0" rtlCol="0" anchor="t"/>
          <a:lstStyle/>
          <a:p>
            <a:pPr algn="ctr">
              <a:lnSpc>
                <a:spcPts val="2850"/>
              </a:lnSpc>
            </a:pPr>
            <a:endParaRPr lang="en-US" sz="2400" dirty="0"/>
          </a:p>
        </p:txBody>
      </p:sp>
      <p:pic>
        <p:nvPicPr>
          <p:cNvPr id="8" name="Picture 7">
            <a:extLst>
              <a:ext uri="{FF2B5EF4-FFF2-40B4-BE49-F238E27FC236}">
                <a16:creationId xmlns:a16="http://schemas.microsoft.com/office/drawing/2014/main" id="{FEBE05FC-3920-4020-DCE5-ADB73DBD8B77}"/>
              </a:ext>
            </a:extLst>
          </p:cNvPr>
          <p:cNvPicPr>
            <a:picLocks noChangeAspect="1"/>
          </p:cNvPicPr>
          <p:nvPr/>
        </p:nvPicPr>
        <p:blipFill>
          <a:blip r:embed="rId3"/>
          <a:stretch>
            <a:fillRect/>
          </a:stretch>
        </p:blipFill>
        <p:spPr>
          <a:xfrm>
            <a:off x="678043" y="1921396"/>
            <a:ext cx="13195139" cy="5521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2767" y="133826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What is </a:t>
            </a:r>
            <a:r>
              <a:rPr lang="en-US" sz="4450" dirty="0" err="1">
                <a:solidFill>
                  <a:srgbClr val="312F2B"/>
                </a:solidFill>
                <a:latin typeface="Gelasio" pitchFamily="34" charset="0"/>
                <a:ea typeface="Gelasio" pitchFamily="34" charset="-122"/>
                <a:cs typeface="Gelasio" pitchFamily="34" charset="-120"/>
              </a:rPr>
              <a:t>NextHome</a:t>
            </a:r>
            <a:r>
              <a:rPr lang="en-US" sz="4450" dirty="0">
                <a:solidFill>
                  <a:srgbClr val="312F2B"/>
                </a:solidFill>
                <a:latin typeface="Gelasio" pitchFamily="34" charset="0"/>
                <a:ea typeface="Gelasio" pitchFamily="34" charset="-122"/>
                <a:cs typeface="Gelasio" pitchFamily="34" charset="-120"/>
              </a:rPr>
              <a:t> ?</a:t>
            </a:r>
            <a:endParaRPr lang="en-US" sz="4450" dirty="0"/>
          </a:p>
        </p:txBody>
      </p:sp>
      <p:sp>
        <p:nvSpPr>
          <p:cNvPr id="3" name="Text 1"/>
          <p:cNvSpPr/>
          <p:nvPr/>
        </p:nvSpPr>
        <p:spPr>
          <a:xfrm>
            <a:off x="712767" y="2548064"/>
            <a:ext cx="13042821" cy="1072395"/>
          </a:xfrm>
          <a:prstGeom prst="rect">
            <a:avLst/>
          </a:prstGeom>
          <a:noFill/>
          <a:ln/>
        </p:spPr>
        <p:txBody>
          <a:bodyPr wrap="square" lIns="0" tIns="0" rIns="0" bIns="0" rtlCol="0" anchor="t"/>
          <a:lstStyle/>
          <a:p>
            <a:pPr>
              <a:lnSpc>
                <a:spcPts val="2850"/>
              </a:lnSpc>
            </a:pPr>
            <a:r>
              <a:rPr lang="en-US" sz="2000" dirty="0" err="1"/>
              <a:t>NextHome</a:t>
            </a:r>
            <a:r>
              <a:rPr lang="en-US" sz="2000" dirty="0"/>
              <a:t> is a smart, web-based PG and hostel renting system designed to simplify accommodation search and management for students and working professionals. It provides a centralized and transparent platform that connects tenants, PG owners, and administrators for a seamless renting experience.</a:t>
            </a:r>
          </a:p>
        </p:txBody>
      </p:sp>
      <p:sp>
        <p:nvSpPr>
          <p:cNvPr id="4" name="Shape 2"/>
          <p:cNvSpPr/>
          <p:nvPr/>
        </p:nvSpPr>
        <p:spPr>
          <a:xfrm>
            <a:off x="793790" y="4336256"/>
            <a:ext cx="4196358" cy="2040493"/>
          </a:xfrm>
          <a:prstGeom prst="roundRect">
            <a:avLst>
              <a:gd name="adj" fmla="val 7170"/>
            </a:avLst>
          </a:prstGeom>
          <a:solidFill>
            <a:srgbClr val="FFFFFF">
              <a:alpha val="95000"/>
            </a:srgbClr>
          </a:solidFill>
          <a:ln/>
        </p:spPr>
        <p:txBody>
          <a:bodyPr/>
          <a:lstStyle/>
          <a:p>
            <a:endParaRPr lang="en-IN" dirty="0"/>
          </a:p>
        </p:txBody>
      </p:sp>
      <p:sp>
        <p:nvSpPr>
          <p:cNvPr id="5" name="Shape 3"/>
          <p:cNvSpPr/>
          <p:nvPr/>
        </p:nvSpPr>
        <p:spPr>
          <a:xfrm>
            <a:off x="793790" y="4305776"/>
            <a:ext cx="4196358" cy="121920"/>
          </a:xfrm>
          <a:prstGeom prst="roundRect">
            <a:avLst>
              <a:gd name="adj" fmla="val 78139"/>
            </a:avLst>
          </a:prstGeom>
          <a:solidFill>
            <a:srgbClr val="E5E5E0"/>
          </a:solidFill>
          <a:ln/>
        </p:spPr>
      </p:sp>
      <p:sp>
        <p:nvSpPr>
          <p:cNvPr id="6" name="Shape 4"/>
          <p:cNvSpPr/>
          <p:nvPr/>
        </p:nvSpPr>
        <p:spPr>
          <a:xfrm>
            <a:off x="2551688" y="3996095"/>
            <a:ext cx="680442" cy="680442"/>
          </a:xfrm>
          <a:prstGeom prst="roundRect">
            <a:avLst>
              <a:gd name="adj" fmla="val 134383"/>
            </a:avLst>
          </a:prstGeom>
          <a:solidFill>
            <a:srgbClr val="E5E5E0"/>
          </a:solidFill>
          <a:ln/>
        </p:spPr>
      </p:sp>
      <p:sp>
        <p:nvSpPr>
          <p:cNvPr id="7" name="Text 5"/>
          <p:cNvSpPr/>
          <p:nvPr/>
        </p:nvSpPr>
        <p:spPr>
          <a:xfrm>
            <a:off x="2755761"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1</a:t>
            </a:r>
            <a:endParaRPr lang="en-US" sz="2100" dirty="0"/>
          </a:p>
        </p:txBody>
      </p:sp>
      <p:sp>
        <p:nvSpPr>
          <p:cNvPr id="8" name="Text 6"/>
          <p:cNvSpPr/>
          <p:nvPr/>
        </p:nvSpPr>
        <p:spPr>
          <a:xfrm>
            <a:off x="1929448" y="4879374"/>
            <a:ext cx="2835235" cy="354330"/>
          </a:xfrm>
          <a:prstGeom prst="rect">
            <a:avLst/>
          </a:prstGeom>
          <a:noFill/>
          <a:ln/>
        </p:spPr>
        <p:txBody>
          <a:bodyPr wrap="none" lIns="0" tIns="0" rIns="0" bIns="0" rtlCol="0" anchor="t"/>
          <a:lstStyle/>
          <a:p>
            <a:pPr>
              <a:lnSpc>
                <a:spcPts val="2750"/>
              </a:lnSpc>
            </a:pPr>
            <a:r>
              <a:rPr lang="en-IN" sz="2400" dirty="0"/>
              <a:t>Smart Search</a:t>
            </a:r>
            <a:endParaRPr lang="en-US" sz="2200" dirty="0"/>
          </a:p>
        </p:txBody>
      </p:sp>
      <p:sp>
        <p:nvSpPr>
          <p:cNvPr id="9" name="Text 7"/>
          <p:cNvSpPr/>
          <p:nvPr/>
        </p:nvSpPr>
        <p:spPr>
          <a:xfrm>
            <a:off x="1050964" y="5460285"/>
            <a:ext cx="3681770" cy="997381"/>
          </a:xfrm>
          <a:prstGeom prst="rect">
            <a:avLst/>
          </a:prstGeom>
          <a:noFill/>
          <a:ln/>
        </p:spPr>
        <p:txBody>
          <a:bodyPr wrap="square" lIns="0" tIns="0" rIns="0" bIns="0" rtlCol="0" anchor="t"/>
          <a:lstStyle/>
          <a:p>
            <a:r>
              <a:rPr lang="en-US" dirty="0"/>
              <a:t>Verified owners, reviews, and complaints ensure transparency and trust.</a:t>
            </a:r>
          </a:p>
        </p:txBody>
      </p:sp>
      <p:sp>
        <p:nvSpPr>
          <p:cNvPr id="10" name="Shape 8"/>
          <p:cNvSpPr/>
          <p:nvPr/>
        </p:nvSpPr>
        <p:spPr>
          <a:xfrm>
            <a:off x="5341739" y="4373403"/>
            <a:ext cx="4196358" cy="2040493"/>
          </a:xfrm>
          <a:prstGeom prst="roundRect">
            <a:avLst>
              <a:gd name="adj" fmla="val 7170"/>
            </a:avLst>
          </a:prstGeom>
          <a:solidFill>
            <a:srgbClr val="FFFFFF">
              <a:alpha val="95000"/>
            </a:srgbClr>
          </a:solidFill>
          <a:ln/>
        </p:spPr>
      </p:sp>
      <p:sp>
        <p:nvSpPr>
          <p:cNvPr id="11" name="Shape 9"/>
          <p:cNvSpPr/>
          <p:nvPr/>
        </p:nvSpPr>
        <p:spPr>
          <a:xfrm>
            <a:off x="5216962" y="4305776"/>
            <a:ext cx="4196358" cy="121920"/>
          </a:xfrm>
          <a:prstGeom prst="roundRect">
            <a:avLst>
              <a:gd name="adj" fmla="val 78139"/>
            </a:avLst>
          </a:prstGeom>
          <a:solidFill>
            <a:srgbClr val="E5E5E0"/>
          </a:solidFill>
          <a:ln/>
        </p:spPr>
      </p:sp>
      <p:sp>
        <p:nvSpPr>
          <p:cNvPr id="12" name="Shape 10"/>
          <p:cNvSpPr/>
          <p:nvPr/>
        </p:nvSpPr>
        <p:spPr>
          <a:xfrm>
            <a:off x="6974860" y="3996095"/>
            <a:ext cx="680442" cy="680442"/>
          </a:xfrm>
          <a:prstGeom prst="roundRect">
            <a:avLst>
              <a:gd name="adj" fmla="val 134383"/>
            </a:avLst>
          </a:prstGeom>
          <a:solidFill>
            <a:srgbClr val="E5E5E0"/>
          </a:solidFill>
          <a:ln/>
        </p:spPr>
      </p:sp>
      <p:sp>
        <p:nvSpPr>
          <p:cNvPr id="13" name="Text 11"/>
          <p:cNvSpPr/>
          <p:nvPr/>
        </p:nvSpPr>
        <p:spPr>
          <a:xfrm>
            <a:off x="7178933"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2</a:t>
            </a:r>
            <a:endParaRPr lang="en-US" sz="2100" dirty="0"/>
          </a:p>
        </p:txBody>
      </p:sp>
      <p:sp>
        <p:nvSpPr>
          <p:cNvPr id="14" name="Text 12"/>
          <p:cNvSpPr/>
          <p:nvPr/>
        </p:nvSpPr>
        <p:spPr>
          <a:xfrm>
            <a:off x="6242023" y="4856716"/>
            <a:ext cx="2925008" cy="354330"/>
          </a:xfrm>
          <a:prstGeom prst="rect">
            <a:avLst/>
          </a:prstGeom>
          <a:noFill/>
          <a:ln/>
        </p:spPr>
        <p:txBody>
          <a:bodyPr wrap="none" lIns="0" tIns="0" rIns="0" bIns="0" rtlCol="0" anchor="t"/>
          <a:lstStyle/>
          <a:p>
            <a:pPr>
              <a:lnSpc>
                <a:spcPts val="2750"/>
              </a:lnSpc>
            </a:pPr>
            <a:r>
              <a:rPr lang="en-IN" sz="2400" dirty="0"/>
              <a:t>Online Booking</a:t>
            </a:r>
            <a:endParaRPr lang="en-US" sz="2200" dirty="0"/>
          </a:p>
        </p:txBody>
      </p:sp>
      <p:sp>
        <p:nvSpPr>
          <p:cNvPr id="15" name="Text 13"/>
          <p:cNvSpPr/>
          <p:nvPr/>
        </p:nvSpPr>
        <p:spPr>
          <a:xfrm>
            <a:off x="5474256" y="5393650"/>
            <a:ext cx="3681770" cy="725805"/>
          </a:xfrm>
          <a:prstGeom prst="rect">
            <a:avLst/>
          </a:prstGeom>
          <a:noFill/>
          <a:ln/>
        </p:spPr>
        <p:txBody>
          <a:bodyPr wrap="square" lIns="0" tIns="0" rIns="0" bIns="0" rtlCol="0" anchor="t"/>
          <a:lstStyle/>
          <a:p>
            <a:pPr>
              <a:lnSpc>
                <a:spcPts val="2850"/>
              </a:lnSpc>
            </a:pPr>
            <a:r>
              <a:rPr lang="en-US" dirty="0"/>
              <a:t>Book rooms, make payments, and manage rentals digitally</a:t>
            </a:r>
          </a:p>
        </p:txBody>
      </p:sp>
      <p:sp>
        <p:nvSpPr>
          <p:cNvPr id="16" name="Shape 14"/>
          <p:cNvSpPr/>
          <p:nvPr/>
        </p:nvSpPr>
        <p:spPr>
          <a:xfrm>
            <a:off x="9640133" y="4336256"/>
            <a:ext cx="4196358" cy="2040493"/>
          </a:xfrm>
          <a:prstGeom prst="roundRect">
            <a:avLst>
              <a:gd name="adj" fmla="val 7170"/>
            </a:avLst>
          </a:prstGeom>
          <a:solidFill>
            <a:srgbClr val="FFFFFF">
              <a:alpha val="95000"/>
            </a:srgbClr>
          </a:solidFill>
          <a:ln/>
        </p:spPr>
      </p:sp>
      <p:sp>
        <p:nvSpPr>
          <p:cNvPr id="17" name="Shape 15"/>
          <p:cNvSpPr/>
          <p:nvPr/>
        </p:nvSpPr>
        <p:spPr>
          <a:xfrm>
            <a:off x="9640133" y="4305776"/>
            <a:ext cx="4196358" cy="121920"/>
          </a:xfrm>
          <a:prstGeom prst="roundRect">
            <a:avLst>
              <a:gd name="adj" fmla="val 78139"/>
            </a:avLst>
          </a:prstGeom>
          <a:solidFill>
            <a:srgbClr val="E5E5E0"/>
          </a:solidFill>
          <a:ln/>
        </p:spPr>
      </p:sp>
      <p:sp>
        <p:nvSpPr>
          <p:cNvPr id="18" name="Shape 16"/>
          <p:cNvSpPr/>
          <p:nvPr/>
        </p:nvSpPr>
        <p:spPr>
          <a:xfrm>
            <a:off x="11398032" y="3996095"/>
            <a:ext cx="680442" cy="680442"/>
          </a:xfrm>
          <a:prstGeom prst="roundRect">
            <a:avLst>
              <a:gd name="adj" fmla="val 134383"/>
            </a:avLst>
          </a:prstGeom>
          <a:solidFill>
            <a:srgbClr val="E5E5E0"/>
          </a:solidFill>
          <a:ln/>
        </p:spPr>
      </p:sp>
      <p:sp>
        <p:nvSpPr>
          <p:cNvPr id="19" name="Text 17"/>
          <p:cNvSpPr/>
          <p:nvPr/>
        </p:nvSpPr>
        <p:spPr>
          <a:xfrm>
            <a:off x="11602105"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3</a:t>
            </a:r>
            <a:endParaRPr lang="en-US" sz="2100" dirty="0"/>
          </a:p>
        </p:txBody>
      </p:sp>
      <p:sp>
        <p:nvSpPr>
          <p:cNvPr id="20" name="Text 18"/>
          <p:cNvSpPr/>
          <p:nvPr/>
        </p:nvSpPr>
        <p:spPr>
          <a:xfrm>
            <a:off x="10545610" y="4856716"/>
            <a:ext cx="2835235" cy="354330"/>
          </a:xfrm>
          <a:prstGeom prst="rect">
            <a:avLst/>
          </a:prstGeom>
          <a:noFill/>
          <a:ln/>
        </p:spPr>
        <p:txBody>
          <a:bodyPr wrap="none" lIns="0" tIns="0" rIns="0" bIns="0" rtlCol="0" anchor="t"/>
          <a:lstStyle/>
          <a:p>
            <a:pPr>
              <a:lnSpc>
                <a:spcPts val="2750"/>
              </a:lnSpc>
            </a:pPr>
            <a:r>
              <a:rPr lang="en-IN" sz="2400" dirty="0"/>
              <a:t>Trusted Platform</a:t>
            </a:r>
            <a:endParaRPr lang="en-US" sz="2200" dirty="0"/>
          </a:p>
        </p:txBody>
      </p:sp>
      <p:sp>
        <p:nvSpPr>
          <p:cNvPr id="21" name="Text 19"/>
          <p:cNvSpPr/>
          <p:nvPr/>
        </p:nvSpPr>
        <p:spPr>
          <a:xfrm>
            <a:off x="9897427" y="5393650"/>
            <a:ext cx="3681770" cy="725805"/>
          </a:xfrm>
          <a:prstGeom prst="rect">
            <a:avLst/>
          </a:prstGeom>
          <a:noFill/>
          <a:ln/>
        </p:spPr>
        <p:txBody>
          <a:bodyPr wrap="square" lIns="0" tIns="0" rIns="0" bIns="0" rtlCol="0" anchor="t"/>
          <a:lstStyle/>
          <a:p>
            <a:pPr>
              <a:lnSpc>
                <a:spcPts val="2850"/>
              </a:lnSpc>
            </a:pPr>
            <a:r>
              <a:rPr lang="en-US" dirty="0"/>
              <a:t>Verified owners, reviews, and complaints ensure transparency and trust.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81D-30AD-1FC1-464A-08449C5921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284C90-4BBE-FA8A-BF5E-FDD25AA076AA}"/>
              </a:ext>
            </a:extLst>
          </p:cNvPr>
          <p:cNvSpPr/>
          <p:nvPr/>
        </p:nvSpPr>
        <p:spPr>
          <a:xfrm>
            <a:off x="712767" y="133826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Why </a:t>
            </a:r>
            <a:r>
              <a:rPr lang="en-US" sz="4450" dirty="0" err="1">
                <a:solidFill>
                  <a:srgbClr val="312F2B"/>
                </a:solidFill>
                <a:latin typeface="Gelasio" pitchFamily="34" charset="0"/>
                <a:ea typeface="Gelasio" pitchFamily="34" charset="-122"/>
                <a:cs typeface="Gelasio" pitchFamily="34" charset="-120"/>
              </a:rPr>
              <a:t>NextHome</a:t>
            </a:r>
            <a:r>
              <a:rPr lang="en-US" sz="4450" dirty="0">
                <a:solidFill>
                  <a:srgbClr val="312F2B"/>
                </a:solidFill>
                <a:latin typeface="Gelasio" pitchFamily="34" charset="0"/>
                <a:ea typeface="Gelasio" pitchFamily="34" charset="-122"/>
                <a:cs typeface="Gelasio" pitchFamily="34" charset="-120"/>
              </a:rPr>
              <a:t> ?</a:t>
            </a:r>
            <a:endParaRPr lang="en-US" sz="4450" dirty="0"/>
          </a:p>
        </p:txBody>
      </p:sp>
      <p:sp>
        <p:nvSpPr>
          <p:cNvPr id="3" name="Text 1">
            <a:extLst>
              <a:ext uri="{FF2B5EF4-FFF2-40B4-BE49-F238E27FC236}">
                <a16:creationId xmlns:a16="http://schemas.microsoft.com/office/drawing/2014/main" id="{7B020FBF-055C-BF04-4FA1-940E14F53439}"/>
              </a:ext>
            </a:extLst>
          </p:cNvPr>
          <p:cNvSpPr/>
          <p:nvPr/>
        </p:nvSpPr>
        <p:spPr>
          <a:xfrm>
            <a:off x="712767" y="2548064"/>
            <a:ext cx="13042821" cy="1072395"/>
          </a:xfrm>
          <a:prstGeom prst="rect">
            <a:avLst/>
          </a:prstGeom>
          <a:noFill/>
          <a:ln/>
        </p:spPr>
        <p:txBody>
          <a:bodyPr wrap="square" lIns="0" tIns="0" rIns="0" bIns="0" rtlCol="0" anchor="t"/>
          <a:lstStyle/>
          <a:p>
            <a:pPr>
              <a:lnSpc>
                <a:spcPts val="2850"/>
              </a:lnSpc>
            </a:pPr>
            <a:r>
              <a:rPr lang="en-US" sz="2000" b="1" dirty="0" err="1"/>
              <a:t>NextHome</a:t>
            </a:r>
            <a:r>
              <a:rPr lang="en-US" sz="2000" dirty="0"/>
              <a:t> solves the key challenges of traditional PG and hostel renting by providing a </a:t>
            </a:r>
            <a:r>
              <a:rPr lang="en-US" sz="2000" b="1" dirty="0"/>
              <a:t>fast, transparent, and fully digital platform</a:t>
            </a:r>
            <a:r>
              <a:rPr lang="en-US" sz="2000" dirty="0"/>
              <a:t>. It simplifies accommodation search, booking, and management for tenants, enables efficient property management for PG owners, and ensures better control and monitoring through an admin-managed system.</a:t>
            </a:r>
          </a:p>
        </p:txBody>
      </p:sp>
      <p:sp>
        <p:nvSpPr>
          <p:cNvPr id="4" name="Shape 2">
            <a:extLst>
              <a:ext uri="{FF2B5EF4-FFF2-40B4-BE49-F238E27FC236}">
                <a16:creationId xmlns:a16="http://schemas.microsoft.com/office/drawing/2014/main" id="{121EF1E1-06D8-C732-86D1-09C0C5EF3A1D}"/>
              </a:ext>
            </a:extLst>
          </p:cNvPr>
          <p:cNvSpPr/>
          <p:nvPr/>
        </p:nvSpPr>
        <p:spPr>
          <a:xfrm>
            <a:off x="793790" y="4336256"/>
            <a:ext cx="4196358" cy="2040493"/>
          </a:xfrm>
          <a:prstGeom prst="roundRect">
            <a:avLst>
              <a:gd name="adj" fmla="val 7170"/>
            </a:avLst>
          </a:prstGeom>
          <a:solidFill>
            <a:srgbClr val="FFFFFF">
              <a:alpha val="95000"/>
            </a:srgbClr>
          </a:solidFill>
          <a:ln/>
        </p:spPr>
        <p:txBody>
          <a:bodyPr/>
          <a:lstStyle/>
          <a:p>
            <a:endParaRPr lang="en-IN" dirty="0"/>
          </a:p>
        </p:txBody>
      </p:sp>
      <p:sp>
        <p:nvSpPr>
          <p:cNvPr id="5" name="Shape 3">
            <a:extLst>
              <a:ext uri="{FF2B5EF4-FFF2-40B4-BE49-F238E27FC236}">
                <a16:creationId xmlns:a16="http://schemas.microsoft.com/office/drawing/2014/main" id="{E98C2D48-6EBD-CA66-7099-1651BAAE2E29}"/>
              </a:ext>
            </a:extLst>
          </p:cNvPr>
          <p:cNvSpPr/>
          <p:nvPr/>
        </p:nvSpPr>
        <p:spPr>
          <a:xfrm>
            <a:off x="793790" y="4305776"/>
            <a:ext cx="4196358" cy="121920"/>
          </a:xfrm>
          <a:prstGeom prst="roundRect">
            <a:avLst>
              <a:gd name="adj" fmla="val 78139"/>
            </a:avLst>
          </a:prstGeom>
          <a:solidFill>
            <a:srgbClr val="E5E5E0"/>
          </a:solidFill>
          <a:ln/>
        </p:spPr>
      </p:sp>
      <p:sp>
        <p:nvSpPr>
          <p:cNvPr id="6" name="Shape 4">
            <a:extLst>
              <a:ext uri="{FF2B5EF4-FFF2-40B4-BE49-F238E27FC236}">
                <a16:creationId xmlns:a16="http://schemas.microsoft.com/office/drawing/2014/main" id="{3D705BFD-9DFF-9559-BAF5-20D025E47C4F}"/>
              </a:ext>
            </a:extLst>
          </p:cNvPr>
          <p:cNvSpPr/>
          <p:nvPr/>
        </p:nvSpPr>
        <p:spPr>
          <a:xfrm>
            <a:off x="2551688" y="3996095"/>
            <a:ext cx="680442" cy="680442"/>
          </a:xfrm>
          <a:prstGeom prst="roundRect">
            <a:avLst>
              <a:gd name="adj" fmla="val 134383"/>
            </a:avLst>
          </a:prstGeom>
          <a:solidFill>
            <a:srgbClr val="E5E5E0"/>
          </a:solidFill>
          <a:ln/>
        </p:spPr>
      </p:sp>
      <p:sp>
        <p:nvSpPr>
          <p:cNvPr id="7" name="Text 5">
            <a:extLst>
              <a:ext uri="{FF2B5EF4-FFF2-40B4-BE49-F238E27FC236}">
                <a16:creationId xmlns:a16="http://schemas.microsoft.com/office/drawing/2014/main" id="{F0DD1E1E-3250-93B3-8802-644798AB32E6}"/>
              </a:ext>
            </a:extLst>
          </p:cNvPr>
          <p:cNvSpPr/>
          <p:nvPr/>
        </p:nvSpPr>
        <p:spPr>
          <a:xfrm>
            <a:off x="2755761"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1</a:t>
            </a:r>
            <a:endParaRPr lang="en-US" sz="2100" dirty="0"/>
          </a:p>
        </p:txBody>
      </p:sp>
      <p:sp>
        <p:nvSpPr>
          <p:cNvPr id="8" name="Text 6">
            <a:extLst>
              <a:ext uri="{FF2B5EF4-FFF2-40B4-BE49-F238E27FC236}">
                <a16:creationId xmlns:a16="http://schemas.microsoft.com/office/drawing/2014/main" id="{D2BE1291-6B97-5762-5DAE-09C672724F40}"/>
              </a:ext>
            </a:extLst>
          </p:cNvPr>
          <p:cNvSpPr/>
          <p:nvPr/>
        </p:nvSpPr>
        <p:spPr>
          <a:xfrm>
            <a:off x="1338143" y="4856716"/>
            <a:ext cx="2835235" cy="354330"/>
          </a:xfrm>
          <a:prstGeom prst="rect">
            <a:avLst/>
          </a:prstGeom>
          <a:noFill/>
          <a:ln/>
        </p:spPr>
        <p:txBody>
          <a:bodyPr wrap="none" lIns="0" tIns="0" rIns="0" bIns="0" rtlCol="0" anchor="t"/>
          <a:lstStyle/>
          <a:p>
            <a:pPr>
              <a:lnSpc>
                <a:spcPts val="2750"/>
              </a:lnSpc>
            </a:pPr>
            <a:r>
              <a:rPr lang="en-IN" sz="2400" dirty="0"/>
              <a:t>Centralized Platform</a:t>
            </a:r>
            <a:endParaRPr lang="en-US" sz="2200" dirty="0"/>
          </a:p>
        </p:txBody>
      </p:sp>
      <p:sp>
        <p:nvSpPr>
          <p:cNvPr id="9" name="Text 7">
            <a:extLst>
              <a:ext uri="{FF2B5EF4-FFF2-40B4-BE49-F238E27FC236}">
                <a16:creationId xmlns:a16="http://schemas.microsoft.com/office/drawing/2014/main" id="{7099A759-C6C4-F041-D145-7BB2EAB3EE06}"/>
              </a:ext>
            </a:extLst>
          </p:cNvPr>
          <p:cNvSpPr/>
          <p:nvPr/>
        </p:nvSpPr>
        <p:spPr>
          <a:xfrm>
            <a:off x="1050964" y="5460285"/>
            <a:ext cx="3681770" cy="997381"/>
          </a:xfrm>
          <a:prstGeom prst="rect">
            <a:avLst/>
          </a:prstGeom>
          <a:noFill/>
          <a:ln/>
        </p:spPr>
        <p:txBody>
          <a:bodyPr wrap="square" lIns="0" tIns="0" rIns="0" bIns="0" rtlCol="0" anchor="t"/>
          <a:lstStyle/>
          <a:p>
            <a:r>
              <a:rPr lang="en-US" dirty="0"/>
              <a:t>All PG and hostel listings, bookings, and details in one place.</a:t>
            </a:r>
          </a:p>
        </p:txBody>
      </p:sp>
      <p:sp>
        <p:nvSpPr>
          <p:cNvPr id="10" name="Shape 8">
            <a:extLst>
              <a:ext uri="{FF2B5EF4-FFF2-40B4-BE49-F238E27FC236}">
                <a16:creationId xmlns:a16="http://schemas.microsoft.com/office/drawing/2014/main" id="{27D12A48-944E-2A03-58A6-413089AC73B1}"/>
              </a:ext>
            </a:extLst>
          </p:cNvPr>
          <p:cNvSpPr/>
          <p:nvPr/>
        </p:nvSpPr>
        <p:spPr>
          <a:xfrm>
            <a:off x="5341739" y="4373403"/>
            <a:ext cx="4196358" cy="2040493"/>
          </a:xfrm>
          <a:prstGeom prst="roundRect">
            <a:avLst>
              <a:gd name="adj" fmla="val 7170"/>
            </a:avLst>
          </a:prstGeom>
          <a:solidFill>
            <a:srgbClr val="FFFFFF">
              <a:alpha val="95000"/>
            </a:srgbClr>
          </a:solidFill>
          <a:ln/>
        </p:spPr>
      </p:sp>
      <p:sp>
        <p:nvSpPr>
          <p:cNvPr id="11" name="Shape 9">
            <a:extLst>
              <a:ext uri="{FF2B5EF4-FFF2-40B4-BE49-F238E27FC236}">
                <a16:creationId xmlns:a16="http://schemas.microsoft.com/office/drawing/2014/main" id="{A997B0B7-F2D3-DE62-8FF6-45ED184F626B}"/>
              </a:ext>
            </a:extLst>
          </p:cNvPr>
          <p:cNvSpPr/>
          <p:nvPr/>
        </p:nvSpPr>
        <p:spPr>
          <a:xfrm>
            <a:off x="5216962" y="4305776"/>
            <a:ext cx="4196358" cy="121920"/>
          </a:xfrm>
          <a:prstGeom prst="roundRect">
            <a:avLst>
              <a:gd name="adj" fmla="val 78139"/>
            </a:avLst>
          </a:prstGeom>
          <a:solidFill>
            <a:srgbClr val="E5E5E0"/>
          </a:solidFill>
          <a:ln/>
        </p:spPr>
      </p:sp>
      <p:sp>
        <p:nvSpPr>
          <p:cNvPr id="12" name="Shape 10">
            <a:extLst>
              <a:ext uri="{FF2B5EF4-FFF2-40B4-BE49-F238E27FC236}">
                <a16:creationId xmlns:a16="http://schemas.microsoft.com/office/drawing/2014/main" id="{97F7AAE0-D4E6-7A4B-C36A-B988119C4352}"/>
              </a:ext>
            </a:extLst>
          </p:cNvPr>
          <p:cNvSpPr/>
          <p:nvPr/>
        </p:nvSpPr>
        <p:spPr>
          <a:xfrm>
            <a:off x="6974860" y="3996095"/>
            <a:ext cx="680442" cy="680442"/>
          </a:xfrm>
          <a:prstGeom prst="roundRect">
            <a:avLst>
              <a:gd name="adj" fmla="val 134383"/>
            </a:avLst>
          </a:prstGeom>
          <a:solidFill>
            <a:srgbClr val="E5E5E0"/>
          </a:solidFill>
          <a:ln/>
        </p:spPr>
      </p:sp>
      <p:sp>
        <p:nvSpPr>
          <p:cNvPr id="13" name="Text 11">
            <a:extLst>
              <a:ext uri="{FF2B5EF4-FFF2-40B4-BE49-F238E27FC236}">
                <a16:creationId xmlns:a16="http://schemas.microsoft.com/office/drawing/2014/main" id="{026F820E-D900-D554-7771-6E7927483DA8}"/>
              </a:ext>
            </a:extLst>
          </p:cNvPr>
          <p:cNvSpPr/>
          <p:nvPr/>
        </p:nvSpPr>
        <p:spPr>
          <a:xfrm>
            <a:off x="7178933"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2</a:t>
            </a:r>
            <a:endParaRPr lang="en-US" sz="2100" dirty="0"/>
          </a:p>
        </p:txBody>
      </p:sp>
      <p:sp>
        <p:nvSpPr>
          <p:cNvPr id="14" name="Text 12">
            <a:extLst>
              <a:ext uri="{FF2B5EF4-FFF2-40B4-BE49-F238E27FC236}">
                <a16:creationId xmlns:a16="http://schemas.microsoft.com/office/drawing/2014/main" id="{8E8CB458-C8FF-6DA3-A9D4-FD5C4316F0EC}"/>
              </a:ext>
            </a:extLst>
          </p:cNvPr>
          <p:cNvSpPr/>
          <p:nvPr/>
        </p:nvSpPr>
        <p:spPr>
          <a:xfrm>
            <a:off x="5731778" y="4836278"/>
            <a:ext cx="2925008" cy="354330"/>
          </a:xfrm>
          <a:prstGeom prst="rect">
            <a:avLst/>
          </a:prstGeom>
          <a:noFill/>
          <a:ln/>
        </p:spPr>
        <p:txBody>
          <a:bodyPr wrap="none" lIns="0" tIns="0" rIns="0" bIns="0" rtlCol="0" anchor="t"/>
          <a:lstStyle/>
          <a:p>
            <a:pPr>
              <a:lnSpc>
                <a:spcPts val="2750"/>
              </a:lnSpc>
            </a:pPr>
            <a:r>
              <a:rPr lang="en-IN" sz="2400" dirty="0"/>
              <a:t>Efficient Management</a:t>
            </a:r>
            <a:endParaRPr lang="en-US" sz="2200" dirty="0"/>
          </a:p>
        </p:txBody>
      </p:sp>
      <p:sp>
        <p:nvSpPr>
          <p:cNvPr id="15" name="Text 13">
            <a:extLst>
              <a:ext uri="{FF2B5EF4-FFF2-40B4-BE49-F238E27FC236}">
                <a16:creationId xmlns:a16="http://schemas.microsoft.com/office/drawing/2014/main" id="{1732A62C-7EA7-2786-B31F-6BBD5232F5A3}"/>
              </a:ext>
            </a:extLst>
          </p:cNvPr>
          <p:cNvSpPr/>
          <p:nvPr/>
        </p:nvSpPr>
        <p:spPr>
          <a:xfrm>
            <a:off x="5474256" y="5393650"/>
            <a:ext cx="3681770" cy="725805"/>
          </a:xfrm>
          <a:prstGeom prst="rect">
            <a:avLst/>
          </a:prstGeom>
          <a:noFill/>
          <a:ln/>
        </p:spPr>
        <p:txBody>
          <a:bodyPr wrap="square" lIns="0" tIns="0" rIns="0" bIns="0" rtlCol="0" anchor="t"/>
          <a:lstStyle/>
          <a:p>
            <a:pPr>
              <a:lnSpc>
                <a:spcPts val="2850"/>
              </a:lnSpc>
            </a:pPr>
            <a:r>
              <a:rPr lang="en-US" dirty="0"/>
              <a:t>Owners can manage PGs, rooms, and tenants digitally with ease.</a:t>
            </a:r>
          </a:p>
        </p:txBody>
      </p:sp>
      <p:sp>
        <p:nvSpPr>
          <p:cNvPr id="16" name="Shape 14">
            <a:extLst>
              <a:ext uri="{FF2B5EF4-FFF2-40B4-BE49-F238E27FC236}">
                <a16:creationId xmlns:a16="http://schemas.microsoft.com/office/drawing/2014/main" id="{01504916-0732-5CC9-ACB5-438B9963566C}"/>
              </a:ext>
            </a:extLst>
          </p:cNvPr>
          <p:cNvSpPr/>
          <p:nvPr/>
        </p:nvSpPr>
        <p:spPr>
          <a:xfrm>
            <a:off x="9640133" y="4336256"/>
            <a:ext cx="4196358" cy="2040493"/>
          </a:xfrm>
          <a:prstGeom prst="roundRect">
            <a:avLst>
              <a:gd name="adj" fmla="val 7170"/>
            </a:avLst>
          </a:prstGeom>
          <a:solidFill>
            <a:srgbClr val="FFFFFF">
              <a:alpha val="95000"/>
            </a:srgbClr>
          </a:solidFill>
          <a:ln/>
        </p:spPr>
      </p:sp>
      <p:sp>
        <p:nvSpPr>
          <p:cNvPr id="17" name="Shape 15">
            <a:extLst>
              <a:ext uri="{FF2B5EF4-FFF2-40B4-BE49-F238E27FC236}">
                <a16:creationId xmlns:a16="http://schemas.microsoft.com/office/drawing/2014/main" id="{5D139187-C52C-BDD0-1036-D61C69FD66EA}"/>
              </a:ext>
            </a:extLst>
          </p:cNvPr>
          <p:cNvSpPr/>
          <p:nvPr/>
        </p:nvSpPr>
        <p:spPr>
          <a:xfrm>
            <a:off x="9640133" y="4305776"/>
            <a:ext cx="4196358" cy="121920"/>
          </a:xfrm>
          <a:prstGeom prst="roundRect">
            <a:avLst>
              <a:gd name="adj" fmla="val 78139"/>
            </a:avLst>
          </a:prstGeom>
          <a:solidFill>
            <a:srgbClr val="E5E5E0"/>
          </a:solidFill>
          <a:ln/>
        </p:spPr>
      </p:sp>
      <p:sp>
        <p:nvSpPr>
          <p:cNvPr id="18" name="Shape 16">
            <a:extLst>
              <a:ext uri="{FF2B5EF4-FFF2-40B4-BE49-F238E27FC236}">
                <a16:creationId xmlns:a16="http://schemas.microsoft.com/office/drawing/2014/main" id="{9B0C3DB5-83D8-D8B9-5CC4-880161D956D7}"/>
              </a:ext>
            </a:extLst>
          </p:cNvPr>
          <p:cNvSpPr/>
          <p:nvPr/>
        </p:nvSpPr>
        <p:spPr>
          <a:xfrm>
            <a:off x="11398032" y="3996095"/>
            <a:ext cx="680442" cy="680442"/>
          </a:xfrm>
          <a:prstGeom prst="roundRect">
            <a:avLst>
              <a:gd name="adj" fmla="val 134383"/>
            </a:avLst>
          </a:prstGeom>
          <a:solidFill>
            <a:srgbClr val="E5E5E0"/>
          </a:solidFill>
          <a:ln/>
        </p:spPr>
      </p:sp>
      <p:sp>
        <p:nvSpPr>
          <p:cNvPr id="19" name="Text 17">
            <a:extLst>
              <a:ext uri="{FF2B5EF4-FFF2-40B4-BE49-F238E27FC236}">
                <a16:creationId xmlns:a16="http://schemas.microsoft.com/office/drawing/2014/main" id="{4DE34B3D-C0EF-A581-14A9-3236B8885602}"/>
              </a:ext>
            </a:extLst>
          </p:cNvPr>
          <p:cNvSpPr/>
          <p:nvPr/>
        </p:nvSpPr>
        <p:spPr>
          <a:xfrm>
            <a:off x="11602105" y="416623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3</a:t>
            </a:r>
            <a:endParaRPr lang="en-US" sz="2100" dirty="0"/>
          </a:p>
        </p:txBody>
      </p:sp>
      <p:sp>
        <p:nvSpPr>
          <p:cNvPr id="20" name="Text 18">
            <a:extLst>
              <a:ext uri="{FF2B5EF4-FFF2-40B4-BE49-F238E27FC236}">
                <a16:creationId xmlns:a16="http://schemas.microsoft.com/office/drawing/2014/main" id="{6A7EBC6F-9267-A7BC-A934-533F5B3F8C1F}"/>
              </a:ext>
            </a:extLst>
          </p:cNvPr>
          <p:cNvSpPr/>
          <p:nvPr/>
        </p:nvSpPr>
        <p:spPr>
          <a:xfrm>
            <a:off x="10458095" y="4832460"/>
            <a:ext cx="2835235" cy="354330"/>
          </a:xfrm>
          <a:prstGeom prst="rect">
            <a:avLst/>
          </a:prstGeom>
          <a:noFill/>
          <a:ln/>
        </p:spPr>
        <p:txBody>
          <a:bodyPr wrap="none" lIns="0" tIns="0" rIns="0" bIns="0" rtlCol="0" anchor="t"/>
          <a:lstStyle/>
          <a:p>
            <a:pPr>
              <a:lnSpc>
                <a:spcPts val="2750"/>
              </a:lnSpc>
            </a:pPr>
            <a:r>
              <a:rPr lang="en-IN" sz="2400" dirty="0"/>
              <a:t>Secure &amp; Reliable</a:t>
            </a:r>
            <a:endParaRPr lang="en-US" sz="2200" dirty="0"/>
          </a:p>
        </p:txBody>
      </p:sp>
      <p:sp>
        <p:nvSpPr>
          <p:cNvPr id="21" name="Text 19">
            <a:extLst>
              <a:ext uri="{FF2B5EF4-FFF2-40B4-BE49-F238E27FC236}">
                <a16:creationId xmlns:a16="http://schemas.microsoft.com/office/drawing/2014/main" id="{DF93CE25-D178-C407-0EC0-CB911180ED6F}"/>
              </a:ext>
            </a:extLst>
          </p:cNvPr>
          <p:cNvSpPr/>
          <p:nvPr/>
        </p:nvSpPr>
        <p:spPr>
          <a:xfrm>
            <a:off x="9897427" y="5393650"/>
            <a:ext cx="3681770" cy="725805"/>
          </a:xfrm>
          <a:prstGeom prst="rect">
            <a:avLst/>
          </a:prstGeom>
          <a:noFill/>
          <a:ln/>
        </p:spPr>
        <p:txBody>
          <a:bodyPr wrap="square" lIns="0" tIns="0" rIns="0" bIns="0" rtlCol="0" anchor="t"/>
          <a:lstStyle/>
          <a:p>
            <a:pPr>
              <a:lnSpc>
                <a:spcPts val="2850"/>
              </a:lnSpc>
            </a:pPr>
            <a:r>
              <a:rPr lang="en-US" dirty="0"/>
              <a:t>Role-based access, verified users, and secure transactions.</a:t>
            </a:r>
          </a:p>
        </p:txBody>
      </p:sp>
    </p:spTree>
    <p:extLst>
      <p:ext uri="{BB962C8B-B14F-4D97-AF65-F5344CB8AC3E}">
        <p14:creationId xmlns:p14="http://schemas.microsoft.com/office/powerpoint/2010/main" val="1281240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6170" y="129646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System Users</a:t>
            </a:r>
            <a:endParaRPr lang="en-US" sz="4450" dirty="0"/>
          </a:p>
        </p:txBody>
      </p:sp>
      <p:sp>
        <p:nvSpPr>
          <p:cNvPr id="3" name="Text 1"/>
          <p:cNvSpPr/>
          <p:nvPr/>
        </p:nvSpPr>
        <p:spPr>
          <a:xfrm>
            <a:off x="786170" y="2379063"/>
            <a:ext cx="13042821" cy="582097"/>
          </a:xfrm>
          <a:prstGeom prst="rect">
            <a:avLst/>
          </a:prstGeom>
          <a:noFill/>
          <a:ln/>
        </p:spPr>
        <p:txBody>
          <a:bodyPr wrap="none" lIns="0" tIns="0" rIns="0" bIns="0" rtlCol="0" anchor="t"/>
          <a:lstStyle/>
          <a:p>
            <a:r>
              <a:rPr lang="en-US" sz="2000" b="1" dirty="0" err="1"/>
              <a:t>NextHome</a:t>
            </a:r>
            <a:r>
              <a:rPr lang="en-US" sz="2000" dirty="0"/>
              <a:t> is designed as a role-based system that supports multiple types of users. Each user has specific responsibilities and</a:t>
            </a:r>
          </a:p>
          <a:p>
            <a:r>
              <a:rPr lang="en-US" sz="2000" dirty="0"/>
              <a:t>access rights to ensure smooth operation, security, and transparency across the platform.</a:t>
            </a:r>
          </a:p>
        </p:txBody>
      </p:sp>
      <p:sp>
        <p:nvSpPr>
          <p:cNvPr id="4" name="Shape 2"/>
          <p:cNvSpPr/>
          <p:nvPr/>
        </p:nvSpPr>
        <p:spPr>
          <a:xfrm>
            <a:off x="786170" y="3708797"/>
            <a:ext cx="4196358" cy="2592348"/>
          </a:xfrm>
          <a:prstGeom prst="roundRect">
            <a:avLst>
              <a:gd name="adj" fmla="val 3675"/>
            </a:avLst>
          </a:prstGeom>
          <a:solidFill>
            <a:srgbClr val="E8E8E3"/>
          </a:solidFill>
          <a:ln w="7620">
            <a:solidFill>
              <a:srgbClr val="CECEC9"/>
            </a:solidFill>
            <a:prstDash val="solid"/>
          </a:ln>
        </p:spPr>
      </p:sp>
      <p:sp>
        <p:nvSpPr>
          <p:cNvPr id="5" name="Shape 3"/>
          <p:cNvSpPr/>
          <p:nvPr/>
        </p:nvSpPr>
        <p:spPr>
          <a:xfrm>
            <a:off x="1028224" y="3943231"/>
            <a:ext cx="680442" cy="680442"/>
          </a:xfrm>
          <a:prstGeom prst="roundRect">
            <a:avLst>
              <a:gd name="adj" fmla="val 13436980"/>
            </a:avLst>
          </a:prstGeom>
          <a:solidFill>
            <a:srgbClr val="E5E5E0"/>
          </a:solidFill>
          <a:ln/>
        </p:spPr>
      </p:sp>
      <p:sp>
        <p:nvSpPr>
          <p:cNvPr id="7" name="Text 4"/>
          <p:cNvSpPr/>
          <p:nvPr/>
        </p:nvSpPr>
        <p:spPr>
          <a:xfrm>
            <a:off x="2211467" y="4106287"/>
            <a:ext cx="2835235" cy="354330"/>
          </a:xfrm>
          <a:prstGeom prst="rect">
            <a:avLst/>
          </a:prstGeom>
          <a:noFill/>
          <a:ln/>
        </p:spPr>
        <p:txBody>
          <a:bodyPr wrap="none" lIns="0" tIns="0" rIns="0" bIns="0" rtlCol="0" anchor="t"/>
          <a:lstStyle/>
          <a:p>
            <a:pPr>
              <a:lnSpc>
                <a:spcPts val="2750"/>
              </a:lnSpc>
            </a:pPr>
            <a:r>
              <a:rPr lang="en-IN" sz="2800" u="sng" dirty="0">
                <a:latin typeface="Gelasio" panose="020B0604020202020204" charset="0"/>
                <a:cs typeface="Gelasio" panose="020B0604020202020204" charset="0"/>
              </a:rPr>
              <a:t>Admin</a:t>
            </a:r>
            <a:endParaRPr lang="en-US" sz="2800" u="sng" dirty="0">
              <a:latin typeface="Gelasio" panose="020B0604020202020204" charset="0"/>
              <a:cs typeface="Gelasio" panose="020B0604020202020204" charset="0"/>
            </a:endParaRPr>
          </a:p>
        </p:txBody>
      </p:sp>
      <p:sp>
        <p:nvSpPr>
          <p:cNvPr id="8" name="Text 5"/>
          <p:cNvSpPr/>
          <p:nvPr/>
        </p:nvSpPr>
        <p:spPr>
          <a:xfrm>
            <a:off x="968518" y="4778544"/>
            <a:ext cx="3831662" cy="1163241"/>
          </a:xfrm>
          <a:prstGeom prst="rect">
            <a:avLst/>
          </a:prstGeom>
          <a:noFill/>
          <a:ln/>
        </p:spPr>
        <p:txBody>
          <a:bodyPr wrap="none" lIns="0" tIns="0" rIns="0" bIns="0" rtlCol="0" anchor="t"/>
          <a:lstStyle/>
          <a:p>
            <a:pPr>
              <a:lnSpc>
                <a:spcPts val="2850"/>
              </a:lnSpc>
            </a:pPr>
            <a:r>
              <a:rPr lang="en-US" sz="2000" dirty="0"/>
              <a:t>Manage the entire system, approves</a:t>
            </a:r>
          </a:p>
          <a:p>
            <a:pPr>
              <a:lnSpc>
                <a:spcPts val="2850"/>
              </a:lnSpc>
            </a:pPr>
            <a:r>
              <a:rPr lang="en-US" sz="2000" dirty="0"/>
              <a:t>PG owners, manages complaints, and </a:t>
            </a:r>
          </a:p>
          <a:p>
            <a:pPr>
              <a:lnSpc>
                <a:spcPts val="2850"/>
              </a:lnSpc>
            </a:pPr>
            <a:r>
              <a:rPr lang="en-US" sz="2000" dirty="0"/>
              <a:t>ensures platform integrity.</a:t>
            </a:r>
          </a:p>
        </p:txBody>
      </p:sp>
      <p:sp>
        <p:nvSpPr>
          <p:cNvPr id="9" name="Shape 6"/>
          <p:cNvSpPr/>
          <p:nvPr/>
        </p:nvSpPr>
        <p:spPr>
          <a:xfrm>
            <a:off x="5216962" y="3708797"/>
            <a:ext cx="4196358" cy="2592348"/>
          </a:xfrm>
          <a:prstGeom prst="roundRect">
            <a:avLst>
              <a:gd name="adj" fmla="val 3675"/>
            </a:avLst>
          </a:prstGeom>
          <a:solidFill>
            <a:srgbClr val="E8E8E3"/>
          </a:solidFill>
          <a:ln w="7620">
            <a:solidFill>
              <a:srgbClr val="CECEC9"/>
            </a:solidFill>
            <a:prstDash val="solid"/>
          </a:ln>
        </p:spPr>
      </p:sp>
      <p:sp>
        <p:nvSpPr>
          <p:cNvPr id="10" name="Shape 7"/>
          <p:cNvSpPr/>
          <p:nvPr/>
        </p:nvSpPr>
        <p:spPr>
          <a:xfrm>
            <a:off x="5451396" y="3943231"/>
            <a:ext cx="680442" cy="680442"/>
          </a:xfrm>
          <a:prstGeom prst="roundRect">
            <a:avLst>
              <a:gd name="adj" fmla="val 13436980"/>
            </a:avLst>
          </a:prstGeom>
          <a:solidFill>
            <a:srgbClr val="E5E5E0"/>
          </a:solidFill>
          <a:ln/>
        </p:spPr>
      </p:sp>
      <p:sp>
        <p:nvSpPr>
          <p:cNvPr id="12" name="Text 8"/>
          <p:cNvSpPr/>
          <p:nvPr/>
        </p:nvSpPr>
        <p:spPr>
          <a:xfrm>
            <a:off x="6354681" y="4092059"/>
            <a:ext cx="2835235" cy="354330"/>
          </a:xfrm>
          <a:prstGeom prst="rect">
            <a:avLst/>
          </a:prstGeom>
          <a:noFill/>
          <a:ln/>
        </p:spPr>
        <p:txBody>
          <a:bodyPr wrap="none" lIns="0" tIns="0" rIns="0" bIns="0" rtlCol="0" anchor="t"/>
          <a:lstStyle/>
          <a:p>
            <a:pPr>
              <a:lnSpc>
                <a:spcPts val="2750"/>
              </a:lnSpc>
            </a:pPr>
            <a:r>
              <a:rPr lang="en-IN" sz="2400" u="sng" dirty="0">
                <a:latin typeface="Gelasio" panose="020B0604020202020204" charset="0"/>
                <a:cs typeface="Gelasio" panose="020B0604020202020204" charset="0"/>
              </a:rPr>
              <a:t>PG Owner</a:t>
            </a:r>
            <a:endParaRPr lang="en-US" sz="2200" u="sng" dirty="0">
              <a:latin typeface="Gelasio" panose="020B0604020202020204" charset="0"/>
              <a:cs typeface="Gelasio" panose="020B0604020202020204" charset="0"/>
            </a:endParaRPr>
          </a:p>
        </p:txBody>
      </p:sp>
      <p:sp>
        <p:nvSpPr>
          <p:cNvPr id="13" name="Text 9"/>
          <p:cNvSpPr/>
          <p:nvPr/>
        </p:nvSpPr>
        <p:spPr>
          <a:xfrm>
            <a:off x="5451396" y="4777366"/>
            <a:ext cx="3849852" cy="1187888"/>
          </a:xfrm>
          <a:prstGeom prst="rect">
            <a:avLst/>
          </a:prstGeom>
          <a:noFill/>
          <a:ln/>
        </p:spPr>
        <p:txBody>
          <a:bodyPr wrap="square" lIns="0" tIns="0" rIns="0" bIns="0" rtlCol="0" anchor="t"/>
          <a:lstStyle/>
          <a:p>
            <a:pPr>
              <a:lnSpc>
                <a:spcPts val="2850"/>
              </a:lnSpc>
            </a:pPr>
            <a:r>
              <a:rPr lang="en-US" sz="2000" dirty="0"/>
              <a:t>Registers and manages PG properties  rooms, facilities, tenants, and booking requests.</a:t>
            </a:r>
          </a:p>
        </p:txBody>
      </p:sp>
      <p:sp>
        <p:nvSpPr>
          <p:cNvPr id="14" name="Shape 10"/>
          <p:cNvSpPr/>
          <p:nvPr/>
        </p:nvSpPr>
        <p:spPr>
          <a:xfrm>
            <a:off x="9640133" y="3708797"/>
            <a:ext cx="4196358" cy="2592348"/>
          </a:xfrm>
          <a:prstGeom prst="roundRect">
            <a:avLst>
              <a:gd name="adj" fmla="val 3675"/>
            </a:avLst>
          </a:prstGeom>
          <a:solidFill>
            <a:srgbClr val="E8E8E3"/>
          </a:solidFill>
          <a:ln w="7620">
            <a:solidFill>
              <a:srgbClr val="CECEC9"/>
            </a:solidFill>
            <a:prstDash val="solid"/>
          </a:ln>
        </p:spPr>
      </p:sp>
      <p:sp>
        <p:nvSpPr>
          <p:cNvPr id="15" name="Shape 11"/>
          <p:cNvSpPr/>
          <p:nvPr/>
        </p:nvSpPr>
        <p:spPr>
          <a:xfrm>
            <a:off x="9874568" y="3943231"/>
            <a:ext cx="680442" cy="680442"/>
          </a:xfrm>
          <a:prstGeom prst="roundRect">
            <a:avLst>
              <a:gd name="adj" fmla="val 13436980"/>
            </a:avLst>
          </a:prstGeom>
          <a:solidFill>
            <a:srgbClr val="E5E5E0"/>
          </a:solidFill>
          <a:ln/>
        </p:spPr>
      </p:sp>
      <p:sp>
        <p:nvSpPr>
          <p:cNvPr id="17" name="Text 12"/>
          <p:cNvSpPr/>
          <p:nvPr/>
        </p:nvSpPr>
        <p:spPr>
          <a:xfrm>
            <a:off x="11224379" y="4106287"/>
            <a:ext cx="2835235" cy="354330"/>
          </a:xfrm>
          <a:prstGeom prst="rect">
            <a:avLst/>
          </a:prstGeom>
          <a:noFill/>
          <a:ln/>
        </p:spPr>
        <p:txBody>
          <a:bodyPr wrap="none" lIns="0" tIns="0" rIns="0" bIns="0" rtlCol="0" anchor="t"/>
          <a:lstStyle/>
          <a:p>
            <a:pPr>
              <a:lnSpc>
                <a:spcPts val="2750"/>
              </a:lnSpc>
            </a:pPr>
            <a:r>
              <a:rPr lang="en-IN" sz="2400" u="sng" dirty="0">
                <a:latin typeface="Gelasio" panose="020B0604020202020204" charset="0"/>
                <a:cs typeface="Gelasio" panose="020B0604020202020204" charset="0"/>
              </a:rPr>
              <a:t>Tenant</a:t>
            </a:r>
            <a:endParaRPr lang="en-US" sz="2200" u="sng" dirty="0">
              <a:latin typeface="Gelasio" panose="020B0604020202020204" charset="0"/>
              <a:cs typeface="Gelasio" panose="020B0604020202020204" charset="0"/>
            </a:endParaRPr>
          </a:p>
        </p:txBody>
      </p:sp>
      <p:sp>
        <p:nvSpPr>
          <p:cNvPr id="18" name="Text 13"/>
          <p:cNvSpPr/>
          <p:nvPr/>
        </p:nvSpPr>
        <p:spPr>
          <a:xfrm>
            <a:off x="9874568" y="4753898"/>
            <a:ext cx="3954423" cy="1187887"/>
          </a:xfrm>
          <a:prstGeom prst="rect">
            <a:avLst/>
          </a:prstGeom>
          <a:noFill/>
          <a:ln/>
        </p:spPr>
        <p:txBody>
          <a:bodyPr wrap="square" lIns="0" tIns="0" rIns="0" bIns="0" rtlCol="0" anchor="t"/>
          <a:lstStyle/>
          <a:p>
            <a:pPr>
              <a:lnSpc>
                <a:spcPts val="2850"/>
              </a:lnSpc>
            </a:pPr>
            <a:r>
              <a:rPr lang="en-US" sz="2000" dirty="0"/>
              <a:t>Searches for PGs, views details, books rooms, makes payments and provides feedback.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89" y="1203595"/>
            <a:ext cx="6591419" cy="708779"/>
          </a:xfrm>
          <a:prstGeom prst="rect">
            <a:avLst/>
          </a:prstGeom>
          <a:noFill/>
          <a:ln/>
        </p:spPr>
        <p:txBody>
          <a:bodyPr wrap="none" lIns="0" tIns="0" rIns="0" bIns="0" rtlCol="0" anchor="t"/>
          <a:lstStyle/>
          <a:p>
            <a:pPr>
              <a:lnSpc>
                <a:spcPts val="5550"/>
              </a:lnSpc>
            </a:pPr>
            <a:r>
              <a:rPr lang="en-IN" sz="4400" dirty="0">
                <a:latin typeface="Gelasio" panose="020B0604020202020204" charset="0"/>
                <a:cs typeface="Gelasio" panose="020B0604020202020204" charset="0"/>
              </a:rPr>
              <a:t>Admin Module</a:t>
            </a:r>
            <a:endParaRPr lang="en-US" sz="4400" dirty="0">
              <a:latin typeface="Gelasio" panose="020B0604020202020204" charset="0"/>
              <a:cs typeface="Gelasio" panose="020B0604020202020204" charset="0"/>
            </a:endParaRPr>
          </a:p>
        </p:txBody>
      </p:sp>
      <p:sp>
        <p:nvSpPr>
          <p:cNvPr id="3" name="Text 1"/>
          <p:cNvSpPr/>
          <p:nvPr/>
        </p:nvSpPr>
        <p:spPr>
          <a:xfrm>
            <a:off x="793790" y="2204531"/>
            <a:ext cx="6244709" cy="1493789"/>
          </a:xfrm>
          <a:prstGeom prst="rect">
            <a:avLst/>
          </a:prstGeom>
          <a:noFill/>
          <a:ln/>
        </p:spPr>
        <p:txBody>
          <a:bodyPr wrap="square" lIns="0" tIns="0" rIns="0" bIns="0" rtlCol="0" anchor="t"/>
          <a:lstStyle/>
          <a:p>
            <a:pPr>
              <a:lnSpc>
                <a:spcPts val="2850"/>
              </a:lnSpc>
            </a:pPr>
            <a:r>
              <a:rPr lang="en-US" sz="2000" dirty="0">
                <a:latin typeface="Gelasio" panose="020B0604020202020204" charset="0"/>
                <a:cs typeface="Gelasio" panose="020B0604020202020204" charset="0"/>
              </a:rPr>
              <a:t>The Admin module acts as the central control system of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It allows administrators to monitor platform activities, manage users, and ensure smooth and secure system operations.</a:t>
            </a:r>
            <a:r>
              <a:rPr lang="en-US" sz="2000" dirty="0">
                <a:solidFill>
                  <a:srgbClr val="272525"/>
                </a:solidFill>
                <a:latin typeface="Gelasio" panose="020B0604020202020204" charset="0"/>
                <a:ea typeface="Lato" pitchFamily="34" charset="-122"/>
                <a:cs typeface="Gelasio" panose="020B0604020202020204" charset="0"/>
              </a:rPr>
              <a:t>.</a:t>
            </a:r>
            <a:endParaRPr lang="en-US" sz="2000" dirty="0">
              <a:latin typeface="Gelasio" panose="020B0604020202020204" charset="0"/>
              <a:cs typeface="Gelasio" panose="020B0604020202020204" charset="0"/>
            </a:endParaRPr>
          </a:p>
        </p:txBody>
      </p:sp>
      <p:sp>
        <p:nvSpPr>
          <p:cNvPr id="4" name="Text 2"/>
          <p:cNvSpPr/>
          <p:nvPr/>
        </p:nvSpPr>
        <p:spPr>
          <a:xfrm>
            <a:off x="793789" y="4282634"/>
            <a:ext cx="6244709" cy="3230479"/>
          </a:xfrm>
          <a:prstGeom prst="rect">
            <a:avLst/>
          </a:prstGeom>
          <a:noFill/>
          <a:ln/>
        </p:spPr>
        <p:txBody>
          <a:bodyPr wrap="none" lIns="0" tIns="0" rIns="0" bIns="0" rtlCol="0" anchor="t"/>
          <a:lstStyle/>
          <a:p>
            <a:r>
              <a:rPr lang="en-US" sz="2000" b="1" dirty="0">
                <a:latin typeface="Gelasio" panose="020B0604020202020204" charset="0"/>
                <a:cs typeface="Gelasio" panose="020B0604020202020204" charset="0"/>
              </a:rPr>
              <a:t>Key Responsibilities</a:t>
            </a:r>
          </a:p>
          <a:p>
            <a:pPr marL="285750" indent="-285750">
              <a:buFont typeface="Arial" panose="020B0604020202020204" pitchFamily="34" charset="0"/>
              <a:buChar char="•"/>
            </a:pPr>
            <a:r>
              <a:rPr lang="en-US" sz="2000" dirty="0">
                <a:latin typeface="Gelasio" panose="020B0604020202020204" charset="0"/>
                <a:cs typeface="Gelasio" panose="020B0604020202020204" charset="0"/>
              </a:rPr>
              <a:t>Approve or reject PG owner registration requests</a:t>
            </a:r>
          </a:p>
          <a:p>
            <a:pPr marL="285750" indent="-285750">
              <a:buFont typeface="Arial" panose="020B0604020202020204" pitchFamily="34" charset="0"/>
              <a:buChar char="•"/>
            </a:pPr>
            <a:r>
              <a:rPr lang="en-US" sz="2000" dirty="0">
                <a:latin typeface="Gelasio" panose="020B0604020202020204" charset="0"/>
                <a:cs typeface="Gelasio" panose="020B0604020202020204" charset="0"/>
              </a:rPr>
              <a:t>Monitor total PGs, owners, and tenants</a:t>
            </a:r>
          </a:p>
          <a:p>
            <a:pPr marL="285750" indent="-285750">
              <a:buFont typeface="Arial" panose="020B0604020202020204" pitchFamily="34" charset="0"/>
              <a:buChar char="•"/>
            </a:pPr>
            <a:r>
              <a:rPr lang="en-US" sz="2000" dirty="0">
                <a:latin typeface="Gelasio" panose="020B0604020202020204" charset="0"/>
                <a:cs typeface="Gelasio" panose="020B0604020202020204" charset="0"/>
              </a:rPr>
              <a:t>View and manage booking details</a:t>
            </a:r>
          </a:p>
          <a:p>
            <a:pPr marL="285750" indent="-285750">
              <a:buFont typeface="Arial" panose="020B0604020202020204" pitchFamily="34" charset="0"/>
              <a:buChar char="•"/>
            </a:pPr>
            <a:r>
              <a:rPr lang="en-US" sz="2000" dirty="0">
                <a:latin typeface="Gelasio" panose="020B0604020202020204" charset="0"/>
                <a:cs typeface="Gelasio" panose="020B0604020202020204" charset="0"/>
              </a:rPr>
              <a:t>Handle complaints and feedback</a:t>
            </a:r>
          </a:p>
          <a:p>
            <a:pPr marL="285750" indent="-285750">
              <a:buFont typeface="Arial" panose="020B0604020202020204" pitchFamily="34" charset="0"/>
              <a:buChar char="•"/>
            </a:pPr>
            <a:r>
              <a:rPr lang="en-US" sz="2000" dirty="0">
                <a:latin typeface="Gelasio" panose="020B0604020202020204" charset="0"/>
                <a:cs typeface="Gelasio" panose="020B0604020202020204" charset="0"/>
              </a:rPr>
              <a:t>Track room availability across the platform</a:t>
            </a:r>
          </a:p>
        </p:txBody>
      </p:sp>
      <p:pic>
        <p:nvPicPr>
          <p:cNvPr id="9" name="Picture 8">
            <a:extLst>
              <a:ext uri="{FF2B5EF4-FFF2-40B4-BE49-F238E27FC236}">
                <a16:creationId xmlns:a16="http://schemas.microsoft.com/office/drawing/2014/main" id="{C3EBAE73-452C-7768-E0B8-56104A899C14}"/>
              </a:ext>
            </a:extLst>
          </p:cNvPr>
          <p:cNvPicPr>
            <a:picLocks noChangeAspect="1"/>
          </p:cNvPicPr>
          <p:nvPr/>
        </p:nvPicPr>
        <p:blipFill>
          <a:blip r:embed="rId3"/>
          <a:stretch>
            <a:fillRect/>
          </a:stretch>
        </p:blipFill>
        <p:spPr>
          <a:xfrm>
            <a:off x="7766612" y="2020182"/>
            <a:ext cx="6423949" cy="38776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B410-21E3-B2C0-8247-AC90857711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ADF567-1181-2871-8B28-BB663D53CB8A}"/>
              </a:ext>
            </a:extLst>
          </p:cNvPr>
          <p:cNvSpPr/>
          <p:nvPr/>
        </p:nvSpPr>
        <p:spPr>
          <a:xfrm>
            <a:off x="793789" y="1203595"/>
            <a:ext cx="6591419" cy="708779"/>
          </a:xfrm>
          <a:prstGeom prst="rect">
            <a:avLst/>
          </a:prstGeom>
          <a:noFill/>
          <a:ln/>
        </p:spPr>
        <p:txBody>
          <a:bodyPr wrap="none" lIns="0" tIns="0" rIns="0" bIns="0" rtlCol="0" anchor="t"/>
          <a:lstStyle/>
          <a:p>
            <a:pPr>
              <a:lnSpc>
                <a:spcPts val="5550"/>
              </a:lnSpc>
            </a:pPr>
            <a:r>
              <a:rPr lang="en-IN" sz="4400" dirty="0">
                <a:latin typeface="Gelasio" panose="020B0604020202020204" charset="0"/>
                <a:cs typeface="Gelasio" panose="020B0604020202020204" charset="0"/>
              </a:rPr>
              <a:t>PG Owner Module</a:t>
            </a:r>
            <a:endParaRPr lang="en-US" sz="4400" dirty="0">
              <a:latin typeface="Gelasio" panose="020B0604020202020204" charset="0"/>
              <a:cs typeface="Gelasio" panose="020B0604020202020204" charset="0"/>
            </a:endParaRPr>
          </a:p>
        </p:txBody>
      </p:sp>
      <p:sp>
        <p:nvSpPr>
          <p:cNvPr id="3" name="Text 1">
            <a:extLst>
              <a:ext uri="{FF2B5EF4-FFF2-40B4-BE49-F238E27FC236}">
                <a16:creationId xmlns:a16="http://schemas.microsoft.com/office/drawing/2014/main" id="{18A244C9-3D4F-5FD4-8B81-FEF94856BE16}"/>
              </a:ext>
            </a:extLst>
          </p:cNvPr>
          <p:cNvSpPr/>
          <p:nvPr/>
        </p:nvSpPr>
        <p:spPr>
          <a:xfrm>
            <a:off x="793790" y="2204531"/>
            <a:ext cx="6244709" cy="1493789"/>
          </a:xfrm>
          <a:prstGeom prst="rect">
            <a:avLst/>
          </a:prstGeom>
          <a:noFill/>
          <a:ln/>
        </p:spPr>
        <p:txBody>
          <a:bodyPr wrap="square" lIns="0" tIns="0" rIns="0" bIns="0" rtlCol="0" anchor="t"/>
          <a:lstStyle/>
          <a:p>
            <a:r>
              <a:rPr lang="en-US" sz="2000" dirty="0">
                <a:latin typeface="Gelasio" panose="020B0604020202020204" charset="0"/>
                <a:cs typeface="Gelasio" panose="020B0604020202020204" charset="0"/>
              </a:rPr>
              <a:t>The PG Owner module enables property owners to manage their PG and hostel accommodations digitally. It provides tools to add properties, manage rooms, and handle tenant bookings efficiently.</a:t>
            </a:r>
          </a:p>
        </p:txBody>
      </p:sp>
      <p:sp>
        <p:nvSpPr>
          <p:cNvPr id="4" name="Text 2">
            <a:extLst>
              <a:ext uri="{FF2B5EF4-FFF2-40B4-BE49-F238E27FC236}">
                <a16:creationId xmlns:a16="http://schemas.microsoft.com/office/drawing/2014/main" id="{AA1E69AA-C873-8A45-1451-6D4135F10574}"/>
              </a:ext>
            </a:extLst>
          </p:cNvPr>
          <p:cNvSpPr/>
          <p:nvPr/>
        </p:nvSpPr>
        <p:spPr>
          <a:xfrm>
            <a:off x="793789" y="4282634"/>
            <a:ext cx="6244709" cy="3230479"/>
          </a:xfrm>
          <a:prstGeom prst="rect">
            <a:avLst/>
          </a:prstGeom>
          <a:noFill/>
          <a:ln/>
        </p:spPr>
        <p:txBody>
          <a:bodyPr wrap="none" lIns="0" tIns="0" rIns="0" bIns="0" rtlCol="0" anchor="t"/>
          <a:lstStyle/>
          <a:p>
            <a:r>
              <a:rPr lang="en-US" sz="2000" b="1" dirty="0">
                <a:latin typeface="Gelasio" panose="020B0604020202020204" charset="0"/>
                <a:cs typeface="Gelasio" panose="020B0604020202020204" charset="0"/>
              </a:rPr>
              <a:t>Key Responsibilities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Register and log in as a PG owner</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Add and update PG/hostel details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Manage rooms, rent, and facilities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View and confirm tenant booking requests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Track tenant details and rent status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View complaints and ratings</a:t>
            </a:r>
          </a:p>
          <a:p>
            <a:pPr marL="285750" indent="-285750">
              <a:buFont typeface="Arial" panose="020B0604020202020204" pitchFamily="34" charset="0"/>
              <a:buChar char="•"/>
            </a:pPr>
            <a:endParaRPr lang="en-US" sz="2000" dirty="0">
              <a:latin typeface="Gelasio" panose="020B0604020202020204" charset="0"/>
              <a:cs typeface="Gelasio" panose="020B0604020202020204" charset="0"/>
            </a:endParaRPr>
          </a:p>
        </p:txBody>
      </p:sp>
      <p:pic>
        <p:nvPicPr>
          <p:cNvPr id="8" name="Picture 7">
            <a:extLst>
              <a:ext uri="{FF2B5EF4-FFF2-40B4-BE49-F238E27FC236}">
                <a16:creationId xmlns:a16="http://schemas.microsoft.com/office/drawing/2014/main" id="{19D6B8B0-5390-2C08-1040-815F99ADB0E0}"/>
              </a:ext>
            </a:extLst>
          </p:cNvPr>
          <p:cNvPicPr>
            <a:picLocks noChangeAspect="1"/>
          </p:cNvPicPr>
          <p:nvPr/>
        </p:nvPicPr>
        <p:blipFill>
          <a:blip r:embed="rId3"/>
          <a:stretch>
            <a:fillRect/>
          </a:stretch>
        </p:blipFill>
        <p:spPr>
          <a:xfrm>
            <a:off x="7483687" y="1041894"/>
            <a:ext cx="6244709" cy="5984111"/>
          </a:xfrm>
          <a:prstGeom prst="rect">
            <a:avLst/>
          </a:prstGeom>
        </p:spPr>
      </p:pic>
    </p:spTree>
    <p:extLst>
      <p:ext uri="{BB962C8B-B14F-4D97-AF65-F5344CB8AC3E}">
        <p14:creationId xmlns:p14="http://schemas.microsoft.com/office/powerpoint/2010/main" val="332483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7AADF7-4177-151F-5A82-AEC72354FE2C}"/>
              </a:ext>
            </a:extLst>
          </p:cNvPr>
          <p:cNvPicPr>
            <a:picLocks noChangeAspect="1"/>
          </p:cNvPicPr>
          <p:nvPr/>
        </p:nvPicPr>
        <p:blipFill>
          <a:blip r:embed="rId2"/>
          <a:stretch>
            <a:fillRect/>
          </a:stretch>
        </p:blipFill>
        <p:spPr>
          <a:xfrm>
            <a:off x="769184" y="1566189"/>
            <a:ext cx="13092032" cy="5791702"/>
          </a:xfrm>
          <a:prstGeom prst="rect">
            <a:avLst/>
          </a:prstGeom>
        </p:spPr>
      </p:pic>
      <p:sp>
        <p:nvSpPr>
          <p:cNvPr id="5" name="TextBox 4">
            <a:extLst>
              <a:ext uri="{FF2B5EF4-FFF2-40B4-BE49-F238E27FC236}">
                <a16:creationId xmlns:a16="http://schemas.microsoft.com/office/drawing/2014/main" id="{DB8C22EB-A01E-DD54-A098-ECF9CFBF2810}"/>
              </a:ext>
            </a:extLst>
          </p:cNvPr>
          <p:cNvSpPr txBox="1"/>
          <p:nvPr/>
        </p:nvSpPr>
        <p:spPr>
          <a:xfrm>
            <a:off x="769184" y="871709"/>
            <a:ext cx="12506978" cy="400110"/>
          </a:xfrm>
          <a:prstGeom prst="rect">
            <a:avLst/>
          </a:prstGeom>
          <a:noFill/>
        </p:spPr>
        <p:txBody>
          <a:bodyPr wrap="square">
            <a:spAutoFit/>
          </a:bodyPr>
          <a:lstStyle/>
          <a:p>
            <a:r>
              <a:rPr lang="en-US" sz="2000" dirty="0">
                <a:latin typeface="Gelasio" panose="020B0604020202020204" charset="0"/>
                <a:cs typeface="Gelasio" panose="020B0604020202020204" charset="0"/>
              </a:rPr>
              <a:t>The </a:t>
            </a:r>
            <a:r>
              <a:rPr lang="en-US" sz="2000" b="1" dirty="0">
                <a:latin typeface="Gelasio" panose="020B0604020202020204" charset="0"/>
                <a:cs typeface="Gelasio" panose="020B0604020202020204" charset="0"/>
              </a:rPr>
              <a:t>PG owner </a:t>
            </a:r>
            <a:r>
              <a:rPr lang="en-US" sz="2000" dirty="0">
                <a:latin typeface="Gelasio" panose="020B0604020202020204" charset="0"/>
                <a:cs typeface="Gelasio" panose="020B0604020202020204" charset="0"/>
              </a:rPr>
              <a:t>can see pending tenant booking requests and has the authority to confirm or reject them.</a:t>
            </a:r>
            <a:endParaRPr lang="en-IN" sz="2000" dirty="0">
              <a:effectLst/>
              <a:latin typeface="Gelasio" panose="020B0604020202020204" charset="0"/>
              <a:cs typeface="Gelasio" panose="020B0604020202020204" charset="0"/>
            </a:endParaRPr>
          </a:p>
        </p:txBody>
      </p:sp>
    </p:spTree>
    <p:extLst>
      <p:ext uri="{BB962C8B-B14F-4D97-AF65-F5344CB8AC3E}">
        <p14:creationId xmlns:p14="http://schemas.microsoft.com/office/powerpoint/2010/main" val="642321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CCE5-59DF-80F0-A188-F2468ACF19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050D5E-93BB-1F80-5D24-F4D9DD8AAA5E}"/>
              </a:ext>
            </a:extLst>
          </p:cNvPr>
          <p:cNvSpPr/>
          <p:nvPr/>
        </p:nvSpPr>
        <p:spPr>
          <a:xfrm>
            <a:off x="793789" y="1203595"/>
            <a:ext cx="6591419" cy="708779"/>
          </a:xfrm>
          <a:prstGeom prst="rect">
            <a:avLst/>
          </a:prstGeom>
          <a:noFill/>
          <a:ln/>
        </p:spPr>
        <p:txBody>
          <a:bodyPr wrap="none" lIns="0" tIns="0" rIns="0" bIns="0" rtlCol="0" anchor="t"/>
          <a:lstStyle/>
          <a:p>
            <a:pPr>
              <a:lnSpc>
                <a:spcPts val="5550"/>
              </a:lnSpc>
            </a:pPr>
            <a:r>
              <a:rPr lang="en-IN" sz="4400" dirty="0">
                <a:latin typeface="Gelasio" panose="020B0604020202020204" charset="0"/>
                <a:cs typeface="Gelasio" panose="020B0604020202020204" charset="0"/>
              </a:rPr>
              <a:t>Tenant Module</a:t>
            </a:r>
            <a:endParaRPr lang="en-US" sz="4400" dirty="0">
              <a:latin typeface="Gelasio" panose="020B0604020202020204" charset="0"/>
              <a:cs typeface="Gelasio" panose="020B0604020202020204" charset="0"/>
            </a:endParaRPr>
          </a:p>
        </p:txBody>
      </p:sp>
      <p:sp>
        <p:nvSpPr>
          <p:cNvPr id="3" name="Text 1">
            <a:extLst>
              <a:ext uri="{FF2B5EF4-FFF2-40B4-BE49-F238E27FC236}">
                <a16:creationId xmlns:a16="http://schemas.microsoft.com/office/drawing/2014/main" id="{37018C0C-66F9-B5E0-8315-687169301FD8}"/>
              </a:ext>
            </a:extLst>
          </p:cNvPr>
          <p:cNvSpPr/>
          <p:nvPr/>
        </p:nvSpPr>
        <p:spPr>
          <a:xfrm>
            <a:off x="793790" y="2204531"/>
            <a:ext cx="6244709" cy="1493789"/>
          </a:xfrm>
          <a:prstGeom prst="rect">
            <a:avLst/>
          </a:prstGeom>
          <a:noFill/>
          <a:ln/>
        </p:spPr>
        <p:txBody>
          <a:bodyPr wrap="square" lIns="0" tIns="0" rIns="0" bIns="0" rtlCol="0" anchor="t"/>
          <a:lstStyle/>
          <a:p>
            <a:r>
              <a:rPr lang="en-US" sz="2000" dirty="0"/>
              <a:t>The Tenant module is designed for students and working professionals to easily search, book, and manage PG or hostel accommodation through a simple and user-friendly interface.</a:t>
            </a:r>
            <a:endParaRPr lang="en-US" sz="2000" dirty="0">
              <a:latin typeface="Gelasio" panose="020B0604020202020204" charset="0"/>
              <a:cs typeface="Gelasio" panose="020B0604020202020204" charset="0"/>
            </a:endParaRPr>
          </a:p>
        </p:txBody>
      </p:sp>
      <p:sp>
        <p:nvSpPr>
          <p:cNvPr id="4" name="Text 2">
            <a:extLst>
              <a:ext uri="{FF2B5EF4-FFF2-40B4-BE49-F238E27FC236}">
                <a16:creationId xmlns:a16="http://schemas.microsoft.com/office/drawing/2014/main" id="{D55B5407-0876-DECE-7DF5-45B5F0202F0A}"/>
              </a:ext>
            </a:extLst>
          </p:cNvPr>
          <p:cNvSpPr/>
          <p:nvPr/>
        </p:nvSpPr>
        <p:spPr>
          <a:xfrm>
            <a:off x="793789" y="4282634"/>
            <a:ext cx="6244709" cy="3230479"/>
          </a:xfrm>
          <a:prstGeom prst="rect">
            <a:avLst/>
          </a:prstGeom>
          <a:noFill/>
          <a:ln/>
        </p:spPr>
        <p:txBody>
          <a:bodyPr wrap="none" lIns="0" tIns="0" rIns="0" bIns="0" rtlCol="0" anchor="t"/>
          <a:lstStyle/>
          <a:p>
            <a:r>
              <a:rPr lang="en-US" sz="2000" b="1" dirty="0">
                <a:latin typeface="Gelasio" panose="020B0604020202020204" charset="0"/>
                <a:cs typeface="Gelasio" panose="020B0604020202020204" charset="0"/>
              </a:rPr>
              <a:t>Key Responsibilities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Register and log in securely</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Search PGs and hostels based on location and  facilities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View detailed PG and Room Information</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Send booking requests to PG Owners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Make Online Payments</a:t>
            </a:r>
          </a:p>
          <a:p>
            <a:pPr marL="342900" indent="-342900">
              <a:buFont typeface="Arial" panose="020B0604020202020204" pitchFamily="34" charset="0"/>
              <a:buChar char="•"/>
            </a:pPr>
            <a:r>
              <a:rPr lang="en-US" sz="2000" dirty="0">
                <a:latin typeface="Gelasio" panose="020B0604020202020204" charset="0"/>
                <a:cs typeface="Gelasio" panose="020B0604020202020204" charset="0"/>
              </a:rPr>
              <a:t>Submit Complaints, reviews, and ratings</a:t>
            </a:r>
          </a:p>
          <a:p>
            <a:pPr marL="342900" indent="-342900">
              <a:buFont typeface="Arial" panose="020B0604020202020204" pitchFamily="34" charset="0"/>
              <a:buChar char="•"/>
            </a:pPr>
            <a:endParaRPr lang="en-US" sz="2000" dirty="0">
              <a:latin typeface="Gelasio" panose="020B0604020202020204" charset="0"/>
              <a:cs typeface="Gelasio" panose="020B0604020202020204" charset="0"/>
            </a:endParaRPr>
          </a:p>
          <a:p>
            <a:endParaRPr lang="en-US" sz="2000" dirty="0">
              <a:latin typeface="Gelasio" panose="020B0604020202020204" charset="0"/>
              <a:cs typeface="Gelasio" panose="020B0604020202020204" charset="0"/>
            </a:endParaRPr>
          </a:p>
        </p:txBody>
      </p:sp>
      <p:sp>
        <p:nvSpPr>
          <p:cNvPr id="11" name="Rectangle 6">
            <a:extLst>
              <a:ext uri="{FF2B5EF4-FFF2-40B4-BE49-F238E27FC236}">
                <a16:creationId xmlns:a16="http://schemas.microsoft.com/office/drawing/2014/main" id="{D507BC2A-E37C-2A04-F507-0C9BD59C9767}"/>
              </a:ext>
            </a:extLst>
          </p:cNvPr>
          <p:cNvSpPr>
            <a:spLocks noChangeArrowheads="1"/>
          </p:cNvSpPr>
          <p:nvPr/>
        </p:nvSpPr>
        <p:spPr bwMode="auto">
          <a:xfrm>
            <a:off x="0" y="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View detailed PG and room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5F92FBD6-C6DB-939A-3FC7-FF47CCC27D97}"/>
              </a:ext>
            </a:extLst>
          </p:cNvPr>
          <p:cNvPicPr>
            <a:picLocks noChangeAspect="1"/>
          </p:cNvPicPr>
          <p:nvPr/>
        </p:nvPicPr>
        <p:blipFill>
          <a:blip r:embed="rId3"/>
          <a:stretch>
            <a:fillRect/>
          </a:stretch>
        </p:blipFill>
        <p:spPr>
          <a:xfrm>
            <a:off x="7385208" y="1829322"/>
            <a:ext cx="7038497" cy="4906623"/>
          </a:xfrm>
          <a:prstGeom prst="rect">
            <a:avLst/>
          </a:prstGeom>
        </p:spPr>
      </p:pic>
    </p:spTree>
    <p:extLst>
      <p:ext uri="{BB962C8B-B14F-4D97-AF65-F5344CB8AC3E}">
        <p14:creationId xmlns:p14="http://schemas.microsoft.com/office/powerpoint/2010/main" val="2700292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DD596-CF33-CA44-0C92-7DC2C505F7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073DBF-B32A-21DB-DBB7-506AF45CA552}"/>
              </a:ext>
            </a:extLst>
          </p:cNvPr>
          <p:cNvSpPr/>
          <p:nvPr/>
        </p:nvSpPr>
        <p:spPr>
          <a:xfrm>
            <a:off x="793789" y="1203595"/>
            <a:ext cx="6591419" cy="708779"/>
          </a:xfrm>
          <a:prstGeom prst="rect">
            <a:avLst/>
          </a:prstGeom>
          <a:noFill/>
          <a:ln/>
        </p:spPr>
        <p:txBody>
          <a:bodyPr wrap="none" lIns="0" tIns="0" rIns="0" bIns="0" rtlCol="0" anchor="t"/>
          <a:lstStyle/>
          <a:p>
            <a:pPr>
              <a:lnSpc>
                <a:spcPts val="5550"/>
              </a:lnSpc>
            </a:pPr>
            <a:r>
              <a:rPr lang="en-US" sz="4400" dirty="0">
                <a:latin typeface="Gelasio" panose="020B0604020202020204" charset="0"/>
                <a:cs typeface="Gelasio" panose="020B0604020202020204" charset="0"/>
              </a:rPr>
              <a:t>System </a:t>
            </a:r>
            <a:r>
              <a:rPr lang="en-US" sz="4400" dirty="0" err="1">
                <a:latin typeface="Gelasio" panose="020B0604020202020204" charset="0"/>
                <a:cs typeface="Gelasio" panose="020B0604020202020204" charset="0"/>
              </a:rPr>
              <a:t>WorkFlow</a:t>
            </a:r>
            <a:endParaRPr lang="en-US" sz="4400" dirty="0">
              <a:latin typeface="Gelasio" panose="020B0604020202020204" charset="0"/>
              <a:cs typeface="Gelasio" panose="020B0604020202020204" charset="0"/>
            </a:endParaRPr>
          </a:p>
        </p:txBody>
      </p:sp>
      <p:sp>
        <p:nvSpPr>
          <p:cNvPr id="3" name="Text 1">
            <a:extLst>
              <a:ext uri="{FF2B5EF4-FFF2-40B4-BE49-F238E27FC236}">
                <a16:creationId xmlns:a16="http://schemas.microsoft.com/office/drawing/2014/main" id="{D70CA5A5-F08F-360A-009D-24F275FC4282}"/>
              </a:ext>
            </a:extLst>
          </p:cNvPr>
          <p:cNvSpPr/>
          <p:nvPr/>
        </p:nvSpPr>
        <p:spPr>
          <a:xfrm>
            <a:off x="793790" y="2204531"/>
            <a:ext cx="6244709" cy="1493789"/>
          </a:xfrm>
          <a:prstGeom prst="rect">
            <a:avLst/>
          </a:prstGeom>
          <a:noFill/>
          <a:ln/>
        </p:spPr>
        <p:txBody>
          <a:bodyPr wrap="square" lIns="0" tIns="0" rIns="0" bIns="0" rtlCol="0" anchor="t"/>
          <a:lstStyle/>
          <a:p>
            <a:r>
              <a:rPr lang="en-US" sz="2000" dirty="0">
                <a:latin typeface="Gelasio" panose="020B0604020202020204" charset="0"/>
                <a:cs typeface="Gelasio" panose="020B0604020202020204" charset="0"/>
              </a:rPr>
              <a:t>The complete end-to-end workflow of the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system, starting from user registration and PG owner approval to PG search, booking confirmation, </a:t>
            </a:r>
          </a:p>
          <a:p>
            <a:r>
              <a:rPr lang="en-US" sz="2000" dirty="0">
                <a:latin typeface="Gelasio" panose="020B0604020202020204" charset="0"/>
                <a:cs typeface="Gelasio" panose="020B0604020202020204" charset="0"/>
              </a:rPr>
              <a:t>payment processing, and feedback management.</a:t>
            </a:r>
          </a:p>
        </p:txBody>
      </p:sp>
      <p:sp>
        <p:nvSpPr>
          <p:cNvPr id="4" name="Text 2">
            <a:extLst>
              <a:ext uri="{FF2B5EF4-FFF2-40B4-BE49-F238E27FC236}">
                <a16:creationId xmlns:a16="http://schemas.microsoft.com/office/drawing/2014/main" id="{0EDC61F7-F24A-5B7B-3192-E710AA3422C7}"/>
              </a:ext>
            </a:extLst>
          </p:cNvPr>
          <p:cNvSpPr/>
          <p:nvPr/>
        </p:nvSpPr>
        <p:spPr>
          <a:xfrm>
            <a:off x="793789" y="4282634"/>
            <a:ext cx="6244709" cy="3230479"/>
          </a:xfrm>
          <a:prstGeom prst="rect">
            <a:avLst/>
          </a:prstGeom>
          <a:noFill/>
          <a:ln/>
        </p:spPr>
        <p:txBody>
          <a:bodyPr wrap="none" lIns="0" tIns="0" rIns="0" bIns="0" rtlCol="0" anchor="t"/>
          <a:lstStyle/>
          <a:p>
            <a:r>
              <a:rPr lang="en-US" sz="2000" b="1" dirty="0">
                <a:latin typeface="Gelasio" panose="020B0604020202020204" charset="0"/>
                <a:cs typeface="Gelasio" panose="020B0604020202020204" charset="0"/>
              </a:rPr>
              <a:t>Flow Steps:</a:t>
            </a:r>
          </a:p>
          <a:p>
            <a:pPr marL="457200" indent="-457200">
              <a:buFont typeface="+mj-lt"/>
              <a:buAutoNum type="arabicPeriod"/>
            </a:pPr>
            <a:r>
              <a:rPr lang="en-US" sz="2000" dirty="0">
                <a:latin typeface="Gelasio" panose="020B0604020202020204" charset="0"/>
                <a:cs typeface="Gelasio" panose="020B0604020202020204" charset="0"/>
              </a:rPr>
              <a:t>PG Owner registers on the platform</a:t>
            </a:r>
          </a:p>
          <a:p>
            <a:pPr marL="457200" indent="-457200">
              <a:buFont typeface="+mj-lt"/>
              <a:buAutoNum type="arabicPeriod"/>
            </a:pPr>
            <a:r>
              <a:rPr lang="en-US" sz="2000" dirty="0">
                <a:latin typeface="Gelasio" panose="020B0604020202020204" charset="0"/>
                <a:cs typeface="Gelasio" panose="020B0604020202020204" charset="0"/>
              </a:rPr>
              <a:t>Admin verifies and approves the owner</a:t>
            </a:r>
          </a:p>
          <a:p>
            <a:pPr marL="457200" indent="-457200">
              <a:buFont typeface="+mj-lt"/>
              <a:buAutoNum type="arabicPeriod"/>
            </a:pPr>
            <a:r>
              <a:rPr lang="en-US" sz="2000" dirty="0">
                <a:latin typeface="Gelasio" panose="020B0604020202020204" charset="0"/>
                <a:cs typeface="Gelasio" panose="020B0604020202020204" charset="0"/>
              </a:rPr>
              <a:t>PG Owner adds PG and room details</a:t>
            </a:r>
          </a:p>
          <a:p>
            <a:pPr marL="457200" indent="-457200">
              <a:buFont typeface="+mj-lt"/>
              <a:buAutoNum type="arabicPeriod"/>
            </a:pPr>
            <a:r>
              <a:rPr lang="en-US" sz="2000" dirty="0">
                <a:latin typeface="Gelasio" panose="020B0604020202020204" charset="0"/>
                <a:cs typeface="Gelasio" panose="020B0604020202020204" charset="0"/>
              </a:rPr>
              <a:t>Tenant registers and logs in</a:t>
            </a:r>
          </a:p>
          <a:p>
            <a:pPr marL="457200" indent="-457200">
              <a:buFont typeface="+mj-lt"/>
              <a:buAutoNum type="arabicPeriod"/>
            </a:pPr>
            <a:r>
              <a:rPr lang="en-US" sz="2000" dirty="0">
                <a:latin typeface="Gelasio" panose="020B0604020202020204" charset="0"/>
                <a:cs typeface="Gelasio" panose="020B0604020202020204" charset="0"/>
              </a:rPr>
              <a:t>Tenant searches PGs and sends booking request</a:t>
            </a:r>
          </a:p>
          <a:p>
            <a:pPr marL="457200" indent="-457200">
              <a:buFont typeface="+mj-lt"/>
              <a:buAutoNum type="arabicPeriod"/>
            </a:pPr>
            <a:r>
              <a:rPr lang="en-US" sz="2000" dirty="0">
                <a:latin typeface="Gelasio" panose="020B0604020202020204" charset="0"/>
                <a:cs typeface="Gelasio" panose="020B0604020202020204" charset="0"/>
              </a:rPr>
              <a:t>PG Owner confirms the booking</a:t>
            </a:r>
          </a:p>
          <a:p>
            <a:pPr marL="457200" indent="-457200">
              <a:buFont typeface="+mj-lt"/>
              <a:buAutoNum type="arabicPeriod"/>
            </a:pPr>
            <a:r>
              <a:rPr lang="en-US" sz="2000" dirty="0">
                <a:latin typeface="Gelasio" panose="020B0604020202020204" charset="0"/>
                <a:cs typeface="Gelasio" panose="020B0604020202020204" charset="0"/>
              </a:rPr>
              <a:t>Tenant completes payment</a:t>
            </a:r>
          </a:p>
          <a:p>
            <a:pPr marL="457200" indent="-457200">
              <a:buFont typeface="+mj-lt"/>
              <a:buAutoNum type="arabicPeriod"/>
            </a:pPr>
            <a:r>
              <a:rPr lang="en-US" sz="2000" dirty="0">
                <a:latin typeface="Gelasio" panose="020B0604020202020204" charset="0"/>
                <a:cs typeface="Gelasio" panose="020B0604020202020204" charset="0"/>
              </a:rPr>
              <a:t>Tenant provides feedback or raises complaints</a:t>
            </a:r>
          </a:p>
          <a:p>
            <a:pPr marL="342900" indent="-342900">
              <a:buFont typeface="Arial" panose="020B0604020202020204" pitchFamily="34" charset="0"/>
              <a:buChar char="•"/>
            </a:pPr>
            <a:endParaRPr lang="en-US" sz="2000" dirty="0">
              <a:latin typeface="Gelasio" panose="020B0604020202020204" charset="0"/>
              <a:cs typeface="Gelasio" panose="020B0604020202020204" charset="0"/>
            </a:endParaRPr>
          </a:p>
          <a:p>
            <a:endParaRPr lang="en-US" sz="2000" dirty="0">
              <a:latin typeface="Gelasio" panose="020B0604020202020204" charset="0"/>
              <a:cs typeface="Gelasio" panose="020B0604020202020204" charset="0"/>
            </a:endParaRPr>
          </a:p>
        </p:txBody>
      </p:sp>
      <p:sp>
        <p:nvSpPr>
          <p:cNvPr id="11" name="Rectangle 6">
            <a:extLst>
              <a:ext uri="{FF2B5EF4-FFF2-40B4-BE49-F238E27FC236}">
                <a16:creationId xmlns:a16="http://schemas.microsoft.com/office/drawing/2014/main" id="{76AFDB1B-7445-5CE3-28BC-96D6FA59F5D3}"/>
              </a:ext>
            </a:extLst>
          </p:cNvPr>
          <p:cNvSpPr>
            <a:spLocks noChangeArrowheads="1"/>
          </p:cNvSpPr>
          <p:nvPr/>
        </p:nvSpPr>
        <p:spPr bwMode="auto">
          <a:xfrm>
            <a:off x="0" y="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View detailed PG and room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6ADFDC9-2D9C-3BC0-FD9F-809B88830BBB}"/>
              </a:ext>
            </a:extLst>
          </p:cNvPr>
          <p:cNvPicPr>
            <a:picLocks noChangeAspect="1"/>
          </p:cNvPicPr>
          <p:nvPr/>
        </p:nvPicPr>
        <p:blipFill>
          <a:blip r:embed="rId3"/>
          <a:srcRect/>
          <a:stretch/>
        </p:blipFill>
        <p:spPr>
          <a:xfrm>
            <a:off x="7801336" y="1203596"/>
            <a:ext cx="5578998" cy="5822410"/>
          </a:xfrm>
          <a:prstGeom prst="rect">
            <a:avLst/>
          </a:prstGeom>
        </p:spPr>
      </p:pic>
    </p:spTree>
    <p:extLst>
      <p:ext uri="{BB962C8B-B14F-4D97-AF65-F5344CB8AC3E}">
        <p14:creationId xmlns:p14="http://schemas.microsoft.com/office/powerpoint/2010/main" val="2897315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33D13-FA85-1F20-E0AE-AA686C81C0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7C382F-9D86-6B1A-BEBF-24F69DFF9CA2}"/>
              </a:ext>
            </a:extLst>
          </p:cNvPr>
          <p:cNvSpPr/>
          <p:nvPr/>
        </p:nvSpPr>
        <p:spPr>
          <a:xfrm>
            <a:off x="793789" y="1203595"/>
            <a:ext cx="6591419" cy="708779"/>
          </a:xfrm>
          <a:prstGeom prst="rect">
            <a:avLst/>
          </a:prstGeom>
          <a:noFill/>
          <a:ln/>
        </p:spPr>
        <p:txBody>
          <a:bodyPr wrap="none" lIns="0" tIns="0" rIns="0" bIns="0" rtlCol="0" anchor="t"/>
          <a:lstStyle/>
          <a:p>
            <a:pPr>
              <a:lnSpc>
                <a:spcPts val="5550"/>
              </a:lnSpc>
            </a:pPr>
            <a:r>
              <a:rPr lang="en-IN" sz="4400" dirty="0">
                <a:latin typeface="Gelasio" panose="020B0604020202020204" charset="0"/>
                <a:cs typeface="Gelasio" panose="020B0604020202020204" charset="0"/>
              </a:rPr>
              <a:t>System Architecture</a:t>
            </a:r>
            <a:endParaRPr lang="en-US" sz="4400" dirty="0">
              <a:latin typeface="Gelasio" panose="020B0604020202020204" charset="0"/>
              <a:cs typeface="Gelasio" panose="020B0604020202020204" charset="0"/>
            </a:endParaRPr>
          </a:p>
        </p:txBody>
      </p:sp>
      <p:sp>
        <p:nvSpPr>
          <p:cNvPr id="3" name="Text 1">
            <a:extLst>
              <a:ext uri="{FF2B5EF4-FFF2-40B4-BE49-F238E27FC236}">
                <a16:creationId xmlns:a16="http://schemas.microsoft.com/office/drawing/2014/main" id="{FEB5377F-3338-A735-9E9C-39C64ED7635A}"/>
              </a:ext>
            </a:extLst>
          </p:cNvPr>
          <p:cNvSpPr/>
          <p:nvPr/>
        </p:nvSpPr>
        <p:spPr>
          <a:xfrm>
            <a:off x="793790" y="2204531"/>
            <a:ext cx="6244709" cy="1493789"/>
          </a:xfrm>
          <a:prstGeom prst="rect">
            <a:avLst/>
          </a:prstGeom>
          <a:noFill/>
          <a:ln/>
        </p:spPr>
        <p:txBody>
          <a:bodyPr wrap="square" lIns="0" tIns="0" rIns="0" bIns="0" rtlCol="0" anchor="t"/>
          <a:lstStyle/>
          <a:p>
            <a:r>
              <a:rPr lang="en-US" sz="2000" dirty="0">
                <a:latin typeface="Gelasio" panose="020B0604020202020204" charset="0"/>
                <a:cs typeface="Gelasio" panose="020B0604020202020204" charset="0"/>
              </a:rPr>
              <a:t>The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system is designed using a microservices-based architecture to ensure scalability, flexibility, and efficient communication between different system components.</a:t>
            </a:r>
          </a:p>
        </p:txBody>
      </p:sp>
      <p:sp>
        <p:nvSpPr>
          <p:cNvPr id="4" name="Text 2">
            <a:extLst>
              <a:ext uri="{FF2B5EF4-FFF2-40B4-BE49-F238E27FC236}">
                <a16:creationId xmlns:a16="http://schemas.microsoft.com/office/drawing/2014/main" id="{8D0744FE-58B7-DB37-B8FB-82703ACE39D8}"/>
              </a:ext>
            </a:extLst>
          </p:cNvPr>
          <p:cNvSpPr/>
          <p:nvPr/>
        </p:nvSpPr>
        <p:spPr>
          <a:xfrm>
            <a:off x="793790" y="4013627"/>
            <a:ext cx="6244709" cy="3230479"/>
          </a:xfrm>
          <a:prstGeom prst="rect">
            <a:avLst/>
          </a:prstGeom>
          <a:noFill/>
          <a:ln/>
        </p:spPr>
        <p:txBody>
          <a:bodyPr wrap="none" lIns="0" tIns="0" rIns="0" bIns="0" rtlCol="0" anchor="t"/>
          <a:lstStyle/>
          <a:p>
            <a:r>
              <a:rPr lang="en-IN" sz="2000" b="1" dirty="0">
                <a:latin typeface="Gelasio" panose="020B0604020202020204" charset="0"/>
                <a:cs typeface="Gelasio" panose="020B0604020202020204" charset="0"/>
              </a:rPr>
              <a:t>Architecture Components:</a:t>
            </a:r>
          </a:p>
          <a:p>
            <a:r>
              <a:rPr lang="en-IN" sz="2000" b="1" dirty="0">
                <a:latin typeface="Gelasio" panose="020B0604020202020204" charset="0"/>
                <a:cs typeface="Gelasio" panose="020B0604020202020204" charset="0"/>
              </a:rPr>
              <a:t>Frontend:</a:t>
            </a:r>
            <a:r>
              <a:rPr lang="en-IN" sz="2000" dirty="0">
                <a:latin typeface="Gelasio" panose="020B0604020202020204" charset="0"/>
                <a:cs typeface="Gelasio" panose="020B0604020202020204" charset="0"/>
              </a:rPr>
              <a:t> React JS for user interface , Bootstrap</a:t>
            </a:r>
          </a:p>
          <a:p>
            <a:r>
              <a:rPr lang="en-IN" sz="2000" b="1" dirty="0">
                <a:latin typeface="Gelasio" panose="020B0604020202020204" charset="0"/>
                <a:cs typeface="Gelasio" panose="020B0604020202020204" charset="0"/>
              </a:rPr>
              <a:t>Backend Services:</a:t>
            </a:r>
            <a:endParaRPr lang="en-IN" sz="2000" dirty="0">
              <a:latin typeface="Gelasio" panose="020B0604020202020204" charset="0"/>
              <a:cs typeface="Gelasio" panose="020B0604020202020204" charset="0"/>
            </a:endParaRPr>
          </a:p>
          <a:p>
            <a:pPr lvl="1"/>
            <a:r>
              <a:rPr lang="en-IN" sz="2000" dirty="0">
                <a:latin typeface="Gelasio" panose="020B0604020202020204" charset="0"/>
                <a:cs typeface="Gelasio" panose="020B0604020202020204" charset="0"/>
              </a:rPr>
              <a:t>Spring Boot REST APIs</a:t>
            </a:r>
          </a:p>
          <a:p>
            <a:pPr lvl="1"/>
            <a:r>
              <a:rPr lang="en-IN" sz="2000" dirty="0">
                <a:latin typeface="Gelasio" panose="020B0604020202020204" charset="0"/>
                <a:cs typeface="Gelasio" panose="020B0604020202020204" charset="0"/>
              </a:rPr>
              <a:t>.NET Core Web APIs</a:t>
            </a:r>
          </a:p>
          <a:p>
            <a:r>
              <a:rPr lang="en-IN" sz="2000" b="1" dirty="0">
                <a:latin typeface="Gelasio" panose="020B0604020202020204" charset="0"/>
                <a:cs typeface="Gelasio" panose="020B0604020202020204" charset="0"/>
              </a:rPr>
              <a:t>Architecture Style:</a:t>
            </a:r>
            <a:r>
              <a:rPr lang="en-IN" sz="2000" dirty="0">
                <a:latin typeface="Gelasio" panose="020B0604020202020204" charset="0"/>
                <a:cs typeface="Gelasio" panose="020B0604020202020204" charset="0"/>
              </a:rPr>
              <a:t> Microservices</a:t>
            </a:r>
          </a:p>
          <a:p>
            <a:r>
              <a:rPr lang="en-IN" sz="2000" b="1" dirty="0">
                <a:latin typeface="Gelasio" panose="020B0604020202020204" charset="0"/>
                <a:cs typeface="Gelasio" panose="020B0604020202020204" charset="0"/>
              </a:rPr>
              <a:t>Database:</a:t>
            </a:r>
            <a:r>
              <a:rPr lang="en-IN" sz="2000" dirty="0">
                <a:latin typeface="Gelasio" panose="020B0604020202020204" charset="0"/>
                <a:cs typeface="Gelasio" panose="020B0604020202020204" charset="0"/>
              </a:rPr>
              <a:t> MySQL</a:t>
            </a:r>
          </a:p>
          <a:p>
            <a:r>
              <a:rPr lang="en-IN" sz="2000" b="1" dirty="0">
                <a:latin typeface="Gelasio" panose="020B0604020202020204" charset="0"/>
                <a:cs typeface="Gelasio" panose="020B0604020202020204" charset="0"/>
              </a:rPr>
              <a:t>Version Control:</a:t>
            </a:r>
            <a:r>
              <a:rPr lang="en-IN" sz="2000" dirty="0">
                <a:latin typeface="Gelasio" panose="020B0604020202020204" charset="0"/>
                <a:cs typeface="Gelasio" panose="020B0604020202020204" charset="0"/>
              </a:rPr>
              <a:t> GitHub</a:t>
            </a:r>
          </a:p>
          <a:p>
            <a:endParaRPr lang="en-US" sz="2000" dirty="0">
              <a:latin typeface="Gelasio" panose="020B0604020202020204" charset="0"/>
              <a:cs typeface="Gelasio" panose="020B0604020202020204" charset="0"/>
            </a:endParaRPr>
          </a:p>
        </p:txBody>
      </p:sp>
      <p:sp>
        <p:nvSpPr>
          <p:cNvPr id="11" name="Rectangle 6">
            <a:extLst>
              <a:ext uri="{FF2B5EF4-FFF2-40B4-BE49-F238E27FC236}">
                <a16:creationId xmlns:a16="http://schemas.microsoft.com/office/drawing/2014/main" id="{2BA77F90-D271-54F0-CA5D-F488000166BE}"/>
              </a:ext>
            </a:extLst>
          </p:cNvPr>
          <p:cNvSpPr>
            <a:spLocks noChangeArrowheads="1"/>
          </p:cNvSpPr>
          <p:nvPr/>
        </p:nvSpPr>
        <p:spPr bwMode="auto">
          <a:xfrm>
            <a:off x="0" y="0"/>
            <a:ext cx="14630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View detailed PG and room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A0607992-C4CE-E35B-FEDE-F73C84704412}"/>
              </a:ext>
            </a:extLst>
          </p:cNvPr>
          <p:cNvPicPr>
            <a:picLocks noChangeAspect="1"/>
          </p:cNvPicPr>
          <p:nvPr/>
        </p:nvPicPr>
        <p:blipFill>
          <a:blip r:embed="rId3"/>
          <a:srcRect/>
          <a:stretch/>
        </p:blipFill>
        <p:spPr>
          <a:xfrm>
            <a:off x="7038499" y="1203595"/>
            <a:ext cx="6712757" cy="5822397"/>
          </a:xfrm>
          <a:prstGeom prst="rect">
            <a:avLst/>
          </a:prstGeom>
        </p:spPr>
      </p:pic>
    </p:spTree>
    <p:extLst>
      <p:ext uri="{BB962C8B-B14F-4D97-AF65-F5344CB8AC3E}">
        <p14:creationId xmlns:p14="http://schemas.microsoft.com/office/powerpoint/2010/main" val="354610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471363" y="544011"/>
            <a:ext cx="9459516" cy="708779"/>
          </a:xfrm>
          <a:prstGeom prst="rect">
            <a:avLst/>
          </a:prstGeom>
          <a:noFill/>
          <a:ln/>
        </p:spPr>
        <p:txBody>
          <a:bodyPr wrap="none" lIns="0" tIns="0" rIns="0" bIns="0" rtlCol="0" anchor="t"/>
          <a:lstStyle/>
          <a:p>
            <a:pPr>
              <a:lnSpc>
                <a:spcPts val="5550"/>
              </a:lnSpc>
            </a:pPr>
            <a:r>
              <a:rPr lang="en-IN" sz="4800" dirty="0">
                <a:latin typeface="Gelasio" panose="020B0604020202020204" charset="0"/>
                <a:cs typeface="Gelasio" panose="020B0604020202020204" charset="0"/>
              </a:rPr>
              <a:t>Database Design</a:t>
            </a:r>
            <a:endParaRPr lang="en-US" sz="4450" dirty="0">
              <a:latin typeface="Gelasio" panose="020B0604020202020204" charset="0"/>
              <a:cs typeface="Gelasio" panose="020B0604020202020204" charset="0"/>
            </a:endParaRPr>
          </a:p>
        </p:txBody>
      </p:sp>
      <p:sp>
        <p:nvSpPr>
          <p:cNvPr id="3" name="Text 1"/>
          <p:cNvSpPr/>
          <p:nvPr/>
        </p:nvSpPr>
        <p:spPr>
          <a:xfrm>
            <a:off x="747850" y="1770613"/>
            <a:ext cx="13042821" cy="1165684"/>
          </a:xfrm>
          <a:prstGeom prst="rect">
            <a:avLst/>
          </a:prstGeom>
          <a:noFill/>
          <a:ln/>
        </p:spPr>
        <p:txBody>
          <a:bodyPr wrap="none" lIns="0" tIns="0" rIns="0" bIns="0" rtlCol="0" anchor="t"/>
          <a:lstStyle/>
          <a:p>
            <a:pPr>
              <a:lnSpc>
                <a:spcPts val="2850"/>
              </a:lnSpc>
            </a:pPr>
            <a:r>
              <a:rPr lang="en-US" sz="2000" dirty="0">
                <a:latin typeface="Gelasio" panose="020B0604020202020204" charset="0"/>
                <a:cs typeface="Gelasio" panose="020B0604020202020204" charset="0"/>
              </a:rPr>
              <a:t>The database is a core component of the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system, responsible for storing, organizing, and managing all </a:t>
            </a:r>
          </a:p>
          <a:p>
            <a:pPr>
              <a:lnSpc>
                <a:spcPts val="2850"/>
              </a:lnSpc>
            </a:pPr>
            <a:r>
              <a:rPr lang="en-US" sz="2000" dirty="0">
                <a:latin typeface="Gelasio" panose="020B0604020202020204" charset="0"/>
                <a:cs typeface="Gelasio" panose="020B0604020202020204" charset="0"/>
              </a:rPr>
              <a:t>application data securely. It ensures smooth interaction between different system modules and maintains data </a:t>
            </a:r>
          </a:p>
          <a:p>
            <a:pPr>
              <a:lnSpc>
                <a:spcPts val="2850"/>
              </a:lnSpc>
            </a:pPr>
            <a:r>
              <a:rPr lang="en-US" sz="2000" dirty="0">
                <a:latin typeface="Gelasio" panose="020B0604020202020204" charset="0"/>
                <a:cs typeface="Gelasio" panose="020B0604020202020204" charset="0"/>
              </a:rPr>
              <a:t>consistency across the platform.</a:t>
            </a:r>
          </a:p>
        </p:txBody>
      </p:sp>
      <p:sp>
        <p:nvSpPr>
          <p:cNvPr id="8" name="Text 5"/>
          <p:cNvSpPr/>
          <p:nvPr/>
        </p:nvSpPr>
        <p:spPr>
          <a:xfrm>
            <a:off x="883211" y="3454120"/>
            <a:ext cx="9360567" cy="4069575"/>
          </a:xfrm>
          <a:prstGeom prst="rect">
            <a:avLst/>
          </a:prstGeom>
          <a:noFill/>
          <a:ln/>
        </p:spPr>
        <p:txBody>
          <a:bodyPr wrap="square" lIns="0" tIns="0" rIns="0" bIns="0" rtlCol="0" anchor="t"/>
          <a:lstStyle/>
          <a:p>
            <a:r>
              <a:rPr lang="en-US" sz="2000" b="1" dirty="0">
                <a:latin typeface="Gelasio" panose="020B0604020202020204" charset="0"/>
                <a:cs typeface="Gelasio" panose="020B0604020202020204" charset="0"/>
              </a:rPr>
              <a:t>Database Entities:</a:t>
            </a:r>
          </a:p>
          <a:p>
            <a:pPr marL="457200" indent="-457200">
              <a:buFont typeface="+mj-lt"/>
              <a:buAutoNum type="arabicPeriod"/>
            </a:pPr>
            <a:r>
              <a:rPr lang="en-US" sz="2000" b="1" dirty="0">
                <a:latin typeface="Gelasio" panose="020B0604020202020204" charset="0"/>
                <a:cs typeface="Gelasio" panose="020B0604020202020204" charset="0"/>
              </a:rPr>
              <a:t>User</a:t>
            </a:r>
            <a:r>
              <a:rPr lang="en-US" sz="2000" dirty="0">
                <a:latin typeface="Gelasio" panose="020B0604020202020204" charset="0"/>
                <a:cs typeface="Gelasio" panose="020B0604020202020204" charset="0"/>
              </a:rPr>
              <a:t> – Stores login and role information</a:t>
            </a:r>
          </a:p>
          <a:p>
            <a:pPr marL="457200" indent="-457200">
              <a:buFont typeface="+mj-lt"/>
              <a:buAutoNum type="arabicPeriod"/>
            </a:pPr>
            <a:r>
              <a:rPr lang="en-US" sz="2000" b="1" dirty="0">
                <a:latin typeface="Gelasio" panose="020B0604020202020204" charset="0"/>
                <a:cs typeface="Gelasio" panose="020B0604020202020204" charset="0"/>
              </a:rPr>
              <a:t>Admin</a:t>
            </a:r>
            <a:r>
              <a:rPr lang="en-US" sz="2000" dirty="0">
                <a:latin typeface="Gelasio" panose="020B0604020202020204" charset="0"/>
                <a:cs typeface="Gelasio" panose="020B0604020202020204" charset="0"/>
              </a:rPr>
              <a:t> – Maintains system control and approvals</a:t>
            </a:r>
          </a:p>
          <a:p>
            <a:pPr marL="457200" indent="-457200">
              <a:buFont typeface="+mj-lt"/>
              <a:buAutoNum type="arabicPeriod"/>
            </a:pPr>
            <a:r>
              <a:rPr lang="en-US" sz="2000" b="1" dirty="0">
                <a:latin typeface="Gelasio" panose="020B0604020202020204" charset="0"/>
                <a:cs typeface="Gelasio" panose="020B0604020202020204" charset="0"/>
              </a:rPr>
              <a:t>PG Owner</a:t>
            </a:r>
            <a:r>
              <a:rPr lang="en-US" sz="2000" dirty="0">
                <a:latin typeface="Gelasio" panose="020B0604020202020204" charset="0"/>
                <a:cs typeface="Gelasio" panose="020B0604020202020204" charset="0"/>
              </a:rPr>
              <a:t> – Stores owner and property details</a:t>
            </a:r>
          </a:p>
          <a:p>
            <a:pPr marL="457200" indent="-457200">
              <a:buFont typeface="+mj-lt"/>
              <a:buAutoNum type="arabicPeriod"/>
            </a:pPr>
            <a:r>
              <a:rPr lang="en-US" sz="2000" b="1" dirty="0">
                <a:latin typeface="Gelasio" panose="020B0604020202020204" charset="0"/>
                <a:cs typeface="Gelasio" panose="020B0604020202020204" charset="0"/>
              </a:rPr>
              <a:t>Tenant</a:t>
            </a:r>
            <a:r>
              <a:rPr lang="en-US" sz="2000" dirty="0">
                <a:latin typeface="Gelasio" panose="020B0604020202020204" charset="0"/>
                <a:cs typeface="Gelasio" panose="020B0604020202020204" charset="0"/>
              </a:rPr>
              <a:t> – Stores tenant profile and booking data</a:t>
            </a:r>
          </a:p>
          <a:p>
            <a:pPr marL="457200" indent="-457200">
              <a:buFont typeface="+mj-lt"/>
              <a:buAutoNum type="arabicPeriod"/>
            </a:pPr>
            <a:r>
              <a:rPr lang="en-US" sz="2000" b="1" dirty="0">
                <a:latin typeface="Gelasio" panose="020B0604020202020204" charset="0"/>
                <a:cs typeface="Gelasio" panose="020B0604020202020204" charset="0"/>
              </a:rPr>
              <a:t>PG Property</a:t>
            </a:r>
            <a:r>
              <a:rPr lang="en-US" sz="2000" dirty="0">
                <a:latin typeface="Gelasio" panose="020B0604020202020204" charset="0"/>
                <a:cs typeface="Gelasio" panose="020B0604020202020204" charset="0"/>
              </a:rPr>
              <a:t> – Contains PG and hostel information</a:t>
            </a:r>
          </a:p>
          <a:p>
            <a:pPr marL="457200" indent="-457200">
              <a:buFont typeface="+mj-lt"/>
              <a:buAutoNum type="arabicPeriod"/>
            </a:pPr>
            <a:r>
              <a:rPr lang="en-US" sz="2000" b="1" dirty="0">
                <a:latin typeface="Gelasio" panose="020B0604020202020204" charset="0"/>
                <a:cs typeface="Gelasio" panose="020B0604020202020204" charset="0"/>
              </a:rPr>
              <a:t>Room</a:t>
            </a:r>
            <a:r>
              <a:rPr lang="en-US" sz="2000" dirty="0">
                <a:latin typeface="Gelasio" panose="020B0604020202020204" charset="0"/>
                <a:cs typeface="Gelasio" panose="020B0604020202020204" charset="0"/>
              </a:rPr>
              <a:t> – Manages room availability and rent</a:t>
            </a:r>
          </a:p>
          <a:p>
            <a:pPr marL="457200" indent="-457200">
              <a:buFont typeface="+mj-lt"/>
              <a:buAutoNum type="arabicPeriod"/>
            </a:pPr>
            <a:r>
              <a:rPr lang="en-US" sz="2000" b="1" dirty="0">
                <a:latin typeface="Gelasio" panose="020B0604020202020204" charset="0"/>
                <a:cs typeface="Gelasio" panose="020B0604020202020204" charset="0"/>
              </a:rPr>
              <a:t>Booking</a:t>
            </a:r>
            <a:r>
              <a:rPr lang="en-US" sz="2000" dirty="0">
                <a:latin typeface="Gelasio" panose="020B0604020202020204" charset="0"/>
                <a:cs typeface="Gelasio" panose="020B0604020202020204" charset="0"/>
              </a:rPr>
              <a:t> – Tracks booking requests and confirmations</a:t>
            </a:r>
          </a:p>
          <a:p>
            <a:pPr marL="457200" indent="-457200">
              <a:buFont typeface="+mj-lt"/>
              <a:buAutoNum type="arabicPeriod"/>
            </a:pPr>
            <a:r>
              <a:rPr lang="en-US" sz="2000" b="1" dirty="0">
                <a:latin typeface="Gelasio" panose="020B0604020202020204" charset="0"/>
                <a:cs typeface="Gelasio" panose="020B0604020202020204" charset="0"/>
              </a:rPr>
              <a:t>Payment</a:t>
            </a:r>
            <a:r>
              <a:rPr lang="en-US" sz="2000" dirty="0">
                <a:latin typeface="Gelasio" panose="020B0604020202020204" charset="0"/>
                <a:cs typeface="Gelasio" panose="020B0604020202020204" charset="0"/>
              </a:rPr>
              <a:t> – Stores transaction details</a:t>
            </a:r>
          </a:p>
          <a:p>
            <a:pPr marL="457200" indent="-457200">
              <a:buFont typeface="+mj-lt"/>
              <a:buAutoNum type="arabicPeriod"/>
            </a:pPr>
            <a:r>
              <a:rPr lang="en-US" sz="2000" b="1" dirty="0">
                <a:latin typeface="Gelasio" panose="020B0604020202020204" charset="0"/>
                <a:cs typeface="Gelasio" panose="020B0604020202020204" charset="0"/>
              </a:rPr>
              <a:t>Feedback </a:t>
            </a:r>
            <a:r>
              <a:rPr lang="en-US" sz="2000" dirty="0">
                <a:latin typeface="Gelasio" panose="020B0604020202020204" charset="0"/>
                <a:cs typeface="Gelasio" panose="020B0604020202020204" charset="0"/>
              </a:rPr>
              <a:t> – Stores ratings and reviews given by tenants</a:t>
            </a:r>
          </a:p>
          <a:p>
            <a:pPr marL="457200" indent="-457200">
              <a:buFont typeface="+mj-lt"/>
              <a:buAutoNum type="arabicPeriod"/>
            </a:pPr>
            <a:r>
              <a:rPr lang="en-US" sz="2000" b="1" dirty="0">
                <a:latin typeface="Gelasio" panose="020B0604020202020204" charset="0"/>
                <a:cs typeface="Gelasio" panose="020B0604020202020204" charset="0"/>
              </a:rPr>
              <a:t>Complaint</a:t>
            </a:r>
            <a:r>
              <a:rPr lang="en-US" sz="2000" dirty="0">
                <a:latin typeface="Gelasio" panose="020B0604020202020204" charset="0"/>
                <a:cs typeface="Gelasio" panose="020B0604020202020204" charset="0"/>
              </a:rPr>
              <a:t> – Stores issues raised by tenants for resolution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D1EE-40F2-C388-1458-2D3F20F610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C229FC-0B56-E557-CC6C-C228562906E0}"/>
              </a:ext>
            </a:extLst>
          </p:cNvPr>
          <p:cNvSpPr/>
          <p:nvPr/>
        </p:nvSpPr>
        <p:spPr>
          <a:xfrm>
            <a:off x="1505781" y="544011"/>
            <a:ext cx="9459516" cy="708779"/>
          </a:xfrm>
          <a:prstGeom prst="rect">
            <a:avLst/>
          </a:prstGeom>
          <a:noFill/>
          <a:ln/>
        </p:spPr>
        <p:txBody>
          <a:bodyPr wrap="none" lIns="0" tIns="0" rIns="0" bIns="0" rtlCol="0" anchor="t"/>
          <a:lstStyle/>
          <a:p>
            <a:pPr>
              <a:lnSpc>
                <a:spcPts val="5550"/>
              </a:lnSpc>
            </a:pPr>
            <a:r>
              <a:rPr lang="en-IN" sz="4800" dirty="0">
                <a:latin typeface="Gelasio" panose="020B0604020202020204" charset="0"/>
                <a:cs typeface="Gelasio" panose="020B0604020202020204" charset="0"/>
              </a:rPr>
              <a:t>System Screens / Application Demonstration</a:t>
            </a:r>
            <a:endParaRPr lang="en-US" sz="4450" dirty="0">
              <a:latin typeface="Gelasio" panose="020B0604020202020204" charset="0"/>
              <a:cs typeface="Gelasio" panose="020B0604020202020204" charset="0"/>
            </a:endParaRPr>
          </a:p>
        </p:txBody>
      </p:sp>
      <p:sp>
        <p:nvSpPr>
          <p:cNvPr id="3" name="Text 1">
            <a:extLst>
              <a:ext uri="{FF2B5EF4-FFF2-40B4-BE49-F238E27FC236}">
                <a16:creationId xmlns:a16="http://schemas.microsoft.com/office/drawing/2014/main" id="{D2C121D1-52E2-6DCE-5222-62885CEA440A}"/>
              </a:ext>
            </a:extLst>
          </p:cNvPr>
          <p:cNvSpPr/>
          <p:nvPr/>
        </p:nvSpPr>
        <p:spPr>
          <a:xfrm>
            <a:off x="747850" y="1770613"/>
            <a:ext cx="13042821" cy="1165684"/>
          </a:xfrm>
          <a:prstGeom prst="rect">
            <a:avLst/>
          </a:prstGeom>
          <a:noFill/>
          <a:ln/>
        </p:spPr>
        <p:txBody>
          <a:bodyPr wrap="none" lIns="0" tIns="0" rIns="0" bIns="0" rtlCol="0" anchor="t"/>
          <a:lstStyle/>
          <a:p>
            <a:pPr>
              <a:lnSpc>
                <a:spcPts val="2850"/>
              </a:lnSpc>
            </a:pPr>
            <a:r>
              <a:rPr lang="en-US" sz="2000" dirty="0">
                <a:latin typeface="Gelasio" panose="020B0604020202020204" charset="0"/>
                <a:cs typeface="Gelasio" panose="020B0604020202020204" charset="0"/>
              </a:rPr>
              <a:t>This slide highlights the key user interfaces of the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application, demonstrating the practical implementation of core </a:t>
            </a:r>
          </a:p>
          <a:p>
            <a:pPr>
              <a:lnSpc>
                <a:spcPts val="2850"/>
              </a:lnSpc>
            </a:pPr>
            <a:r>
              <a:rPr lang="en-US" sz="2000" dirty="0">
                <a:latin typeface="Gelasio" panose="020B0604020202020204" charset="0"/>
                <a:cs typeface="Gelasio" panose="020B0604020202020204" charset="0"/>
              </a:rPr>
              <a:t>features for different users.</a:t>
            </a:r>
          </a:p>
        </p:txBody>
      </p:sp>
      <p:pic>
        <p:nvPicPr>
          <p:cNvPr id="5" name="Picture 4">
            <a:extLst>
              <a:ext uri="{FF2B5EF4-FFF2-40B4-BE49-F238E27FC236}">
                <a16:creationId xmlns:a16="http://schemas.microsoft.com/office/drawing/2014/main" id="{7BE8687D-1191-8648-7CE5-5B63816CD471}"/>
              </a:ext>
            </a:extLst>
          </p:cNvPr>
          <p:cNvPicPr>
            <a:picLocks noChangeAspect="1"/>
          </p:cNvPicPr>
          <p:nvPr/>
        </p:nvPicPr>
        <p:blipFill>
          <a:blip r:embed="rId3"/>
          <a:stretch>
            <a:fillRect/>
          </a:stretch>
        </p:blipFill>
        <p:spPr>
          <a:xfrm>
            <a:off x="1505781" y="2814875"/>
            <a:ext cx="5364421" cy="4956858"/>
          </a:xfrm>
          <a:prstGeom prst="rect">
            <a:avLst/>
          </a:prstGeom>
        </p:spPr>
      </p:pic>
      <p:pic>
        <p:nvPicPr>
          <p:cNvPr id="7" name="Picture 6">
            <a:extLst>
              <a:ext uri="{FF2B5EF4-FFF2-40B4-BE49-F238E27FC236}">
                <a16:creationId xmlns:a16="http://schemas.microsoft.com/office/drawing/2014/main" id="{85AB7573-AF84-B230-FB7A-E752CBA2ED7B}"/>
              </a:ext>
            </a:extLst>
          </p:cNvPr>
          <p:cNvPicPr>
            <a:picLocks noChangeAspect="1"/>
          </p:cNvPicPr>
          <p:nvPr/>
        </p:nvPicPr>
        <p:blipFill>
          <a:blip r:embed="rId4"/>
          <a:stretch>
            <a:fillRect/>
          </a:stretch>
        </p:blipFill>
        <p:spPr>
          <a:xfrm>
            <a:off x="7764180" y="2936297"/>
            <a:ext cx="6026491" cy="4285226"/>
          </a:xfrm>
          <a:prstGeom prst="rect">
            <a:avLst/>
          </a:prstGeom>
        </p:spPr>
      </p:pic>
    </p:spTree>
    <p:extLst>
      <p:ext uri="{BB962C8B-B14F-4D97-AF65-F5344CB8AC3E}">
        <p14:creationId xmlns:p14="http://schemas.microsoft.com/office/powerpoint/2010/main" val="2631828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DEA723-CA4F-5484-0702-73FA12EDF411}"/>
              </a:ext>
            </a:extLst>
          </p:cNvPr>
          <p:cNvPicPr>
            <a:picLocks noChangeAspect="1"/>
          </p:cNvPicPr>
          <p:nvPr/>
        </p:nvPicPr>
        <p:blipFill>
          <a:blip r:embed="rId2"/>
          <a:stretch>
            <a:fillRect/>
          </a:stretch>
        </p:blipFill>
        <p:spPr>
          <a:xfrm>
            <a:off x="625111" y="2212791"/>
            <a:ext cx="13102383" cy="5540220"/>
          </a:xfrm>
          <a:prstGeom prst="rect">
            <a:avLst/>
          </a:prstGeom>
        </p:spPr>
      </p:pic>
      <p:sp>
        <p:nvSpPr>
          <p:cNvPr id="6" name="TextBox 5">
            <a:extLst>
              <a:ext uri="{FF2B5EF4-FFF2-40B4-BE49-F238E27FC236}">
                <a16:creationId xmlns:a16="http://schemas.microsoft.com/office/drawing/2014/main" id="{36AD76F2-3833-0EBA-4847-813568B572FB}"/>
              </a:ext>
            </a:extLst>
          </p:cNvPr>
          <p:cNvSpPr txBox="1"/>
          <p:nvPr/>
        </p:nvSpPr>
        <p:spPr>
          <a:xfrm>
            <a:off x="601962" y="1225340"/>
            <a:ext cx="11783028" cy="400110"/>
          </a:xfrm>
          <a:prstGeom prst="rect">
            <a:avLst/>
          </a:prstGeom>
          <a:noFill/>
        </p:spPr>
        <p:txBody>
          <a:bodyPr wrap="square">
            <a:spAutoFit/>
          </a:bodyPr>
          <a:lstStyle/>
          <a:p>
            <a:r>
              <a:rPr lang="en-US" sz="2000" dirty="0">
                <a:latin typeface="Gelasio" panose="020B0604020202020204" charset="0"/>
                <a:cs typeface="Gelasio" panose="020B0604020202020204" charset="0"/>
              </a:rPr>
              <a:t>Admin can view all</a:t>
            </a:r>
            <a:r>
              <a:rPr lang="en-US" sz="2000" b="1" dirty="0">
                <a:latin typeface="Gelasio" panose="020B0604020202020204" charset="0"/>
                <a:cs typeface="Gelasio" panose="020B0604020202020204" charset="0"/>
              </a:rPr>
              <a:t> Tenants</a:t>
            </a:r>
            <a:r>
              <a:rPr lang="en-US" sz="2000" dirty="0">
                <a:latin typeface="Gelasio" panose="020B0604020202020204" charset="0"/>
                <a:cs typeface="Gelasio" panose="020B0604020202020204" charset="0"/>
              </a:rPr>
              <a:t> registered on the platform.</a:t>
            </a:r>
            <a:endParaRPr lang="en-IN" sz="2000" dirty="0">
              <a:latin typeface="Gelasio" panose="020B0604020202020204" charset="0"/>
              <a:cs typeface="Gelasio" panose="020B0604020202020204" charset="0"/>
            </a:endParaRPr>
          </a:p>
        </p:txBody>
      </p:sp>
    </p:spTree>
    <p:extLst>
      <p:ext uri="{BB962C8B-B14F-4D97-AF65-F5344CB8AC3E}">
        <p14:creationId xmlns:p14="http://schemas.microsoft.com/office/powerpoint/2010/main" val="4120795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2F704E4-4EB3-EB6F-A586-BAE34AFB5A26}"/>
              </a:ext>
            </a:extLst>
          </p:cNvPr>
          <p:cNvPicPr>
            <a:picLocks noChangeAspect="1"/>
          </p:cNvPicPr>
          <p:nvPr/>
        </p:nvPicPr>
        <p:blipFill>
          <a:blip r:embed="rId2"/>
          <a:stretch>
            <a:fillRect/>
          </a:stretch>
        </p:blipFill>
        <p:spPr>
          <a:xfrm>
            <a:off x="856525" y="1481556"/>
            <a:ext cx="12303890" cy="61230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TextBox 16">
            <a:extLst>
              <a:ext uri="{FF2B5EF4-FFF2-40B4-BE49-F238E27FC236}">
                <a16:creationId xmlns:a16="http://schemas.microsoft.com/office/drawing/2014/main" id="{32CEC05C-63A4-C34A-61E5-5E22884FDD0A}"/>
              </a:ext>
            </a:extLst>
          </p:cNvPr>
          <p:cNvSpPr txBox="1"/>
          <p:nvPr/>
        </p:nvSpPr>
        <p:spPr>
          <a:xfrm>
            <a:off x="729205" y="625035"/>
            <a:ext cx="7315200" cy="400110"/>
          </a:xfrm>
          <a:prstGeom prst="rect">
            <a:avLst/>
          </a:prstGeom>
          <a:noFill/>
        </p:spPr>
        <p:txBody>
          <a:bodyPr wrap="square">
            <a:spAutoFit/>
          </a:bodyPr>
          <a:lstStyle/>
          <a:p>
            <a:r>
              <a:rPr lang="en-US" dirty="0">
                <a:latin typeface="Gelasio" panose="020B0604020202020204" charset="0"/>
                <a:cs typeface="Gelasio" panose="020B0604020202020204" charset="0"/>
              </a:rPr>
              <a:t>Admin can view all</a:t>
            </a:r>
            <a:r>
              <a:rPr lang="en-US" b="1" dirty="0">
                <a:latin typeface="Gelasio" panose="020B0604020202020204" charset="0"/>
                <a:cs typeface="Gelasio" panose="020B0604020202020204" charset="0"/>
              </a:rPr>
              <a:t> Owners</a:t>
            </a:r>
            <a:r>
              <a:rPr lang="en-US" dirty="0">
                <a:latin typeface="Gelasio" panose="020B0604020202020204" charset="0"/>
                <a:cs typeface="Gelasio" panose="020B0604020202020204" charset="0"/>
              </a:rPr>
              <a:t> </a:t>
            </a:r>
            <a:r>
              <a:rPr lang="en-US" sz="2000" dirty="0">
                <a:latin typeface="Gelasio" panose="020B0604020202020204" charset="0"/>
                <a:cs typeface="Gelasio" panose="020B0604020202020204" charset="0"/>
              </a:rPr>
              <a:t>registered</a:t>
            </a:r>
            <a:r>
              <a:rPr lang="en-US" dirty="0">
                <a:latin typeface="Gelasio" panose="020B0604020202020204" charset="0"/>
                <a:cs typeface="Gelasio" panose="020B0604020202020204" charset="0"/>
              </a:rPr>
              <a:t> on the platform.</a:t>
            </a:r>
            <a:endParaRPr lang="en-IN" dirty="0">
              <a:latin typeface="Gelasio" panose="020B0604020202020204" charset="0"/>
              <a:cs typeface="Gelasio" panose="020B0604020202020204" charset="0"/>
            </a:endParaRPr>
          </a:p>
        </p:txBody>
      </p:sp>
    </p:spTree>
    <p:extLst>
      <p:ext uri="{BB962C8B-B14F-4D97-AF65-F5344CB8AC3E}">
        <p14:creationId xmlns:p14="http://schemas.microsoft.com/office/powerpoint/2010/main" val="2655471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412273-C219-B5B6-02DB-D186EE07289B}"/>
              </a:ext>
            </a:extLst>
          </p:cNvPr>
          <p:cNvPicPr>
            <a:picLocks noChangeAspect="1"/>
          </p:cNvPicPr>
          <p:nvPr/>
        </p:nvPicPr>
        <p:blipFill>
          <a:blip r:embed="rId2"/>
          <a:stretch>
            <a:fillRect/>
          </a:stretch>
        </p:blipFill>
        <p:spPr>
          <a:xfrm>
            <a:off x="471765" y="1775110"/>
            <a:ext cx="13686870" cy="5883150"/>
          </a:xfrm>
          <a:prstGeom prst="rect">
            <a:avLst/>
          </a:prstGeom>
        </p:spPr>
      </p:pic>
      <p:sp>
        <p:nvSpPr>
          <p:cNvPr id="5" name="TextBox 4">
            <a:extLst>
              <a:ext uri="{FF2B5EF4-FFF2-40B4-BE49-F238E27FC236}">
                <a16:creationId xmlns:a16="http://schemas.microsoft.com/office/drawing/2014/main" id="{74759646-34E5-A830-5B2C-BD89965129CF}"/>
              </a:ext>
            </a:extLst>
          </p:cNvPr>
          <p:cNvSpPr txBox="1"/>
          <p:nvPr/>
        </p:nvSpPr>
        <p:spPr>
          <a:xfrm>
            <a:off x="471765" y="1163785"/>
            <a:ext cx="7315200" cy="400110"/>
          </a:xfrm>
          <a:prstGeom prst="rect">
            <a:avLst/>
          </a:prstGeom>
          <a:noFill/>
        </p:spPr>
        <p:txBody>
          <a:bodyPr wrap="square">
            <a:spAutoFit/>
          </a:bodyPr>
          <a:lstStyle/>
          <a:p>
            <a:r>
              <a:rPr lang="en-US" sz="2000" dirty="0">
                <a:latin typeface="Gelasio" panose="020B0604020202020204" charset="0"/>
                <a:cs typeface="Gelasio" panose="020B0604020202020204" charset="0"/>
              </a:rPr>
              <a:t>Admin can view </a:t>
            </a:r>
            <a:r>
              <a:rPr lang="en-US" sz="2000" b="1" dirty="0">
                <a:latin typeface="Gelasio" panose="020B0604020202020204" charset="0"/>
                <a:cs typeface="Gelasio" panose="020B0604020202020204" charset="0"/>
              </a:rPr>
              <a:t>Total PG Properties</a:t>
            </a:r>
            <a:r>
              <a:rPr lang="en-US" sz="2000" dirty="0">
                <a:latin typeface="Gelasio" panose="020B0604020202020204" charset="0"/>
                <a:cs typeface="Gelasio" panose="020B0604020202020204" charset="0"/>
              </a:rPr>
              <a:t> registered on the platform.</a:t>
            </a:r>
            <a:endParaRPr lang="en-IN" sz="2000" dirty="0">
              <a:latin typeface="Gelasio" panose="020B0604020202020204" charset="0"/>
              <a:cs typeface="Gelasio" panose="020B0604020202020204" charset="0"/>
            </a:endParaRPr>
          </a:p>
        </p:txBody>
      </p:sp>
    </p:spTree>
    <p:extLst>
      <p:ext uri="{BB962C8B-B14F-4D97-AF65-F5344CB8AC3E}">
        <p14:creationId xmlns:p14="http://schemas.microsoft.com/office/powerpoint/2010/main" val="1190400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C922A-2863-851F-F71E-0213EA6A2202}"/>
              </a:ext>
            </a:extLst>
          </p:cNvPr>
          <p:cNvPicPr>
            <a:picLocks noChangeAspect="1"/>
          </p:cNvPicPr>
          <p:nvPr/>
        </p:nvPicPr>
        <p:blipFill>
          <a:blip r:embed="rId2"/>
          <a:stretch>
            <a:fillRect/>
          </a:stretch>
        </p:blipFill>
        <p:spPr>
          <a:xfrm>
            <a:off x="1041722" y="1613924"/>
            <a:ext cx="12431210" cy="6020322"/>
          </a:xfrm>
          <a:prstGeom prst="rect">
            <a:avLst/>
          </a:prstGeom>
        </p:spPr>
      </p:pic>
      <p:sp>
        <p:nvSpPr>
          <p:cNvPr id="5" name="TextBox 4">
            <a:extLst>
              <a:ext uri="{FF2B5EF4-FFF2-40B4-BE49-F238E27FC236}">
                <a16:creationId xmlns:a16="http://schemas.microsoft.com/office/drawing/2014/main" id="{81D5C371-E4E9-8B10-0A81-CCB411F43D8F}"/>
              </a:ext>
            </a:extLst>
          </p:cNvPr>
          <p:cNvSpPr txBox="1"/>
          <p:nvPr/>
        </p:nvSpPr>
        <p:spPr>
          <a:xfrm>
            <a:off x="891249" y="920717"/>
            <a:ext cx="8194877" cy="400110"/>
          </a:xfrm>
          <a:prstGeom prst="rect">
            <a:avLst/>
          </a:prstGeom>
          <a:noFill/>
        </p:spPr>
        <p:txBody>
          <a:bodyPr wrap="square">
            <a:spAutoFit/>
          </a:bodyPr>
          <a:lstStyle/>
          <a:p>
            <a:r>
              <a:rPr lang="en-US" sz="2000" dirty="0">
                <a:latin typeface="Gelasio" panose="020B0604020202020204" charset="0"/>
                <a:cs typeface="Gelasio" panose="020B0604020202020204" charset="0"/>
              </a:rPr>
              <a:t>Admin can view </a:t>
            </a:r>
            <a:r>
              <a:rPr lang="en-US" sz="2000" b="1" dirty="0">
                <a:latin typeface="Gelasio" panose="020B0604020202020204" charset="0"/>
                <a:cs typeface="Gelasio" panose="020B0604020202020204" charset="0"/>
              </a:rPr>
              <a:t>Pending Owner Requests</a:t>
            </a:r>
            <a:r>
              <a:rPr lang="en-US" sz="2000" dirty="0">
                <a:latin typeface="Gelasio" panose="020B0604020202020204" charset="0"/>
                <a:cs typeface="Gelasio" panose="020B0604020202020204" charset="0"/>
              </a:rPr>
              <a:t> registered on the platform.</a:t>
            </a:r>
            <a:endParaRPr lang="en-IN" sz="2000" dirty="0">
              <a:latin typeface="Gelasio" panose="020B0604020202020204" charset="0"/>
              <a:cs typeface="Gelasio" panose="020B0604020202020204" charset="0"/>
            </a:endParaRPr>
          </a:p>
        </p:txBody>
      </p:sp>
    </p:spTree>
    <p:extLst>
      <p:ext uri="{BB962C8B-B14F-4D97-AF65-F5344CB8AC3E}">
        <p14:creationId xmlns:p14="http://schemas.microsoft.com/office/powerpoint/2010/main" val="2601318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4F6C0C-0175-ABFF-B66E-6510305973F5}"/>
              </a:ext>
            </a:extLst>
          </p:cNvPr>
          <p:cNvSpPr txBox="1"/>
          <p:nvPr/>
        </p:nvSpPr>
        <p:spPr>
          <a:xfrm>
            <a:off x="972272" y="1028834"/>
            <a:ext cx="7315200" cy="769441"/>
          </a:xfrm>
          <a:prstGeom prst="rect">
            <a:avLst/>
          </a:prstGeom>
          <a:noFill/>
        </p:spPr>
        <p:txBody>
          <a:bodyPr wrap="square">
            <a:spAutoFit/>
          </a:bodyPr>
          <a:lstStyle/>
          <a:p>
            <a:pPr>
              <a:buNone/>
            </a:pPr>
            <a:r>
              <a:rPr lang="en-US" sz="4400" b="1" dirty="0">
                <a:latin typeface="Gelasio" panose="020B0604020202020204" charset="0"/>
                <a:cs typeface="Gelasio" panose="020B0604020202020204" charset="0"/>
              </a:rPr>
              <a:t>Future Scope</a:t>
            </a:r>
          </a:p>
        </p:txBody>
      </p:sp>
      <p:sp>
        <p:nvSpPr>
          <p:cNvPr id="5" name="TextBox 4">
            <a:extLst>
              <a:ext uri="{FF2B5EF4-FFF2-40B4-BE49-F238E27FC236}">
                <a16:creationId xmlns:a16="http://schemas.microsoft.com/office/drawing/2014/main" id="{378CD47E-82B3-0A86-5479-10C2A68B2B31}"/>
              </a:ext>
            </a:extLst>
          </p:cNvPr>
          <p:cNvSpPr txBox="1"/>
          <p:nvPr/>
        </p:nvSpPr>
        <p:spPr>
          <a:xfrm>
            <a:off x="1041721" y="1990846"/>
            <a:ext cx="12419635" cy="1015663"/>
          </a:xfrm>
          <a:prstGeom prst="rect">
            <a:avLst/>
          </a:prstGeom>
          <a:noFill/>
        </p:spPr>
        <p:txBody>
          <a:bodyPr wrap="square">
            <a:spAutoFit/>
          </a:bodyPr>
          <a:lstStyle/>
          <a:p>
            <a:r>
              <a:rPr lang="en-US" sz="2000" dirty="0">
                <a:latin typeface="Gelasio" panose="020B0604020202020204" charset="0"/>
                <a:cs typeface="Gelasio" panose="020B0604020202020204" charset="0"/>
              </a:rPr>
              <a:t>The </a:t>
            </a:r>
            <a:r>
              <a:rPr lang="en-US" sz="2000" dirty="0" err="1">
                <a:latin typeface="Gelasio" panose="020B0604020202020204" charset="0"/>
                <a:cs typeface="Gelasio" panose="020B0604020202020204" charset="0"/>
              </a:rPr>
              <a:t>NextHome</a:t>
            </a:r>
            <a:r>
              <a:rPr lang="en-US" sz="2000" dirty="0">
                <a:latin typeface="Gelasio" panose="020B0604020202020204" charset="0"/>
                <a:cs typeface="Gelasio" panose="020B0604020202020204" charset="0"/>
              </a:rPr>
              <a:t> system can be further enhanced by incorporating advanced technologies and additional features to improve usability, scalability, and overall user experience. These enhancements will help the platform adapt to growing user demands and real-world renting challenges.</a:t>
            </a:r>
          </a:p>
        </p:txBody>
      </p:sp>
      <p:sp>
        <p:nvSpPr>
          <p:cNvPr id="7" name="TextBox 6">
            <a:extLst>
              <a:ext uri="{FF2B5EF4-FFF2-40B4-BE49-F238E27FC236}">
                <a16:creationId xmlns:a16="http://schemas.microsoft.com/office/drawing/2014/main" id="{1509D556-FD71-30AB-E277-002FE7DA66E3}"/>
              </a:ext>
            </a:extLst>
          </p:cNvPr>
          <p:cNvSpPr txBox="1"/>
          <p:nvPr/>
        </p:nvSpPr>
        <p:spPr>
          <a:xfrm>
            <a:off x="1041721" y="3735746"/>
            <a:ext cx="8912506" cy="2246769"/>
          </a:xfrm>
          <a:prstGeom prst="rect">
            <a:avLst/>
          </a:prstGeom>
          <a:noFill/>
        </p:spPr>
        <p:txBody>
          <a:bodyPr wrap="square">
            <a:spAutoFit/>
          </a:bodyPr>
          <a:lstStyle/>
          <a:p>
            <a:pPr>
              <a:buNone/>
            </a:pPr>
            <a:r>
              <a:rPr lang="en-US" sz="2000" b="1" dirty="0">
                <a:latin typeface="Gelasio" panose="020B0604020202020204" charset="0"/>
                <a:cs typeface="Gelasio" panose="020B0604020202020204" charset="0"/>
              </a:rPr>
              <a:t>Proposed Enhancements</a:t>
            </a:r>
          </a:p>
          <a:p>
            <a:pPr>
              <a:buFont typeface="Arial" panose="020B0604020202020204" pitchFamily="34" charset="0"/>
              <a:buChar char="•"/>
            </a:pPr>
            <a:r>
              <a:rPr lang="en-US" sz="2000" b="1" dirty="0">
                <a:latin typeface="Gelasio" panose="020B0604020202020204" charset="0"/>
                <a:cs typeface="Gelasio" panose="020B0604020202020204" charset="0"/>
              </a:rPr>
              <a:t>Mobile Application</a:t>
            </a:r>
            <a:r>
              <a:rPr lang="en-US" sz="2000" dirty="0">
                <a:latin typeface="Gelasio" panose="020B0604020202020204" charset="0"/>
                <a:cs typeface="Gelasio" panose="020B0604020202020204" charset="0"/>
              </a:rPr>
              <a:t> for Android and iOS platforms</a:t>
            </a:r>
          </a:p>
          <a:p>
            <a:pPr>
              <a:buFont typeface="Arial" panose="020B0604020202020204" pitchFamily="34" charset="0"/>
              <a:buChar char="•"/>
            </a:pPr>
            <a:r>
              <a:rPr lang="en-US" sz="2000" b="1" dirty="0">
                <a:latin typeface="Gelasio" panose="020B0604020202020204" charset="0"/>
                <a:cs typeface="Gelasio" panose="020B0604020202020204" charset="0"/>
              </a:rPr>
              <a:t>AI-based PG Recommendations</a:t>
            </a:r>
            <a:r>
              <a:rPr lang="en-US" sz="2000" dirty="0">
                <a:latin typeface="Gelasio" panose="020B0604020202020204" charset="0"/>
                <a:cs typeface="Gelasio" panose="020B0604020202020204" charset="0"/>
              </a:rPr>
              <a:t> based on user preferences</a:t>
            </a:r>
          </a:p>
          <a:p>
            <a:pPr>
              <a:buFont typeface="Arial" panose="020B0604020202020204" pitchFamily="34" charset="0"/>
              <a:buChar char="•"/>
            </a:pPr>
            <a:r>
              <a:rPr lang="en-US" sz="2000" b="1" dirty="0">
                <a:latin typeface="Gelasio" panose="020B0604020202020204" charset="0"/>
                <a:cs typeface="Gelasio" panose="020B0604020202020204" charset="0"/>
              </a:rPr>
              <a:t>Map-based Search</a:t>
            </a:r>
            <a:r>
              <a:rPr lang="en-US" sz="2000" dirty="0">
                <a:latin typeface="Gelasio" panose="020B0604020202020204" charset="0"/>
                <a:cs typeface="Gelasio" panose="020B0604020202020204" charset="0"/>
              </a:rPr>
              <a:t> for location-aware PG discovery</a:t>
            </a:r>
          </a:p>
          <a:p>
            <a:pPr>
              <a:buFont typeface="Arial" panose="020B0604020202020204" pitchFamily="34" charset="0"/>
              <a:buChar char="•"/>
            </a:pPr>
            <a:r>
              <a:rPr lang="en-US" sz="2000" b="1" dirty="0">
                <a:latin typeface="Gelasio" panose="020B0604020202020204" charset="0"/>
                <a:cs typeface="Gelasio" panose="020B0604020202020204" charset="0"/>
              </a:rPr>
              <a:t>Online Rental Agreement Generation</a:t>
            </a:r>
            <a:endParaRPr lang="en-US" sz="2000" dirty="0">
              <a:latin typeface="Gelasio" panose="020B0604020202020204" charset="0"/>
              <a:cs typeface="Gelasio" panose="020B0604020202020204" charset="0"/>
            </a:endParaRPr>
          </a:p>
          <a:p>
            <a:pPr>
              <a:buFont typeface="Arial" panose="020B0604020202020204" pitchFamily="34" charset="0"/>
              <a:buChar char="•"/>
            </a:pPr>
            <a:r>
              <a:rPr lang="en-US" sz="2000" b="1" dirty="0">
                <a:latin typeface="Gelasio" panose="020B0604020202020204" charset="0"/>
                <a:cs typeface="Gelasio" panose="020B0604020202020204" charset="0"/>
              </a:rPr>
              <a:t>Real-time Chat</a:t>
            </a:r>
            <a:r>
              <a:rPr lang="en-US" sz="2000" dirty="0">
                <a:latin typeface="Gelasio" panose="020B0604020202020204" charset="0"/>
                <a:cs typeface="Gelasio" panose="020B0604020202020204" charset="0"/>
              </a:rPr>
              <a:t> between tenants and PG owners</a:t>
            </a:r>
          </a:p>
          <a:p>
            <a:pPr>
              <a:buFont typeface="Arial" panose="020B0604020202020204" pitchFamily="34" charset="0"/>
              <a:buChar char="•"/>
            </a:pPr>
            <a:r>
              <a:rPr lang="en-US" sz="2000" b="1" dirty="0">
                <a:latin typeface="Gelasio" panose="020B0604020202020204" charset="0"/>
                <a:cs typeface="Gelasio" panose="020B0604020202020204" charset="0"/>
              </a:rPr>
              <a:t>Digital Payment Gateway Integration</a:t>
            </a:r>
            <a:r>
              <a:rPr lang="en-US" sz="2000" dirty="0">
                <a:latin typeface="Gelasio" panose="020B0604020202020204" charset="0"/>
                <a:cs typeface="Gelasio" panose="020B0604020202020204" charset="0"/>
              </a:rPr>
              <a:t> with multiple options</a:t>
            </a:r>
          </a:p>
        </p:txBody>
      </p:sp>
    </p:spTree>
    <p:extLst>
      <p:ext uri="{BB962C8B-B14F-4D97-AF65-F5344CB8AC3E}">
        <p14:creationId xmlns:p14="http://schemas.microsoft.com/office/powerpoint/2010/main" val="894058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88971"/>
            <a:ext cx="6159222"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Gelasio" pitchFamily="34" charset="0"/>
                <a:ea typeface="Gelasio" pitchFamily="34" charset="-122"/>
                <a:cs typeface="Gelasio" pitchFamily="34" charset="-120"/>
              </a:rPr>
              <a:t>Key Features at a Glance</a:t>
            </a:r>
            <a:endParaRPr lang="en-US" sz="4450" dirty="0"/>
          </a:p>
        </p:txBody>
      </p:sp>
      <p:sp>
        <p:nvSpPr>
          <p:cNvPr id="3" name="Text 1"/>
          <p:cNvSpPr/>
          <p:nvPr/>
        </p:nvSpPr>
        <p:spPr>
          <a:xfrm>
            <a:off x="793790" y="245137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Quizzler combines essential functionalities to deliver a comprehensive and engaging platform.</a:t>
            </a:r>
            <a:endParaRPr lang="en-US" sz="1750" dirty="0"/>
          </a:p>
        </p:txBody>
      </p:sp>
      <p:pic>
        <p:nvPicPr>
          <p:cNvPr id="4" name="Image 0" descr="preencoded.png"/>
          <p:cNvPicPr>
            <a:picLocks noChangeAspect="1"/>
          </p:cNvPicPr>
          <p:nvPr/>
        </p:nvPicPr>
        <p:blipFill>
          <a:blip r:embed="rId3"/>
          <a:stretch>
            <a:fillRect/>
          </a:stretch>
        </p:blipFill>
        <p:spPr>
          <a:xfrm>
            <a:off x="793790" y="3069431"/>
            <a:ext cx="566976" cy="566976"/>
          </a:xfrm>
          <a:prstGeom prst="rect">
            <a:avLst/>
          </a:prstGeom>
        </p:spPr>
      </p:pic>
      <p:sp>
        <p:nvSpPr>
          <p:cNvPr id="5" name="Text 2"/>
          <p:cNvSpPr/>
          <p:nvPr/>
        </p:nvSpPr>
        <p:spPr>
          <a:xfrm>
            <a:off x="1644253" y="32040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Secure Access</a:t>
            </a:r>
            <a:endParaRPr lang="en-US" sz="2200" dirty="0"/>
          </a:p>
        </p:txBody>
      </p:sp>
      <p:sp>
        <p:nvSpPr>
          <p:cNvPr id="6" name="Text 3"/>
          <p:cNvSpPr/>
          <p:nvPr/>
        </p:nvSpPr>
        <p:spPr>
          <a:xfrm>
            <a:off x="1644253" y="3694509"/>
            <a:ext cx="552914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Role-based authentication.</a:t>
            </a:r>
            <a:endParaRPr lang="en-US" sz="1750" dirty="0"/>
          </a:p>
        </p:txBody>
      </p:sp>
      <p:pic>
        <p:nvPicPr>
          <p:cNvPr id="7" name="Image 1" descr="preencoded.png"/>
          <p:cNvPicPr>
            <a:picLocks noChangeAspect="1"/>
          </p:cNvPicPr>
          <p:nvPr/>
        </p:nvPicPr>
        <p:blipFill>
          <a:blip r:embed="rId4"/>
          <a:stretch>
            <a:fillRect/>
          </a:stretch>
        </p:blipFill>
        <p:spPr>
          <a:xfrm>
            <a:off x="7456884" y="3069431"/>
            <a:ext cx="566976" cy="566976"/>
          </a:xfrm>
          <a:prstGeom prst="rect">
            <a:avLst/>
          </a:prstGeom>
        </p:spPr>
      </p:pic>
      <p:sp>
        <p:nvSpPr>
          <p:cNvPr id="8" name="Text 4"/>
          <p:cNvSpPr/>
          <p:nvPr/>
        </p:nvSpPr>
        <p:spPr>
          <a:xfrm>
            <a:off x="8307348" y="32040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Flexible Quiz Creation</a:t>
            </a:r>
            <a:endParaRPr lang="en-US" sz="2200" dirty="0"/>
          </a:p>
        </p:txBody>
      </p:sp>
      <p:sp>
        <p:nvSpPr>
          <p:cNvPr id="9" name="Text 5"/>
          <p:cNvSpPr/>
          <p:nvPr/>
        </p:nvSpPr>
        <p:spPr>
          <a:xfrm>
            <a:off x="8307348" y="3694509"/>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Customizable questions.</a:t>
            </a:r>
            <a:endParaRPr lang="en-US" sz="1750" dirty="0"/>
          </a:p>
        </p:txBody>
      </p:sp>
      <p:pic>
        <p:nvPicPr>
          <p:cNvPr id="10" name="Image 2" descr="preencoded.png"/>
          <p:cNvPicPr>
            <a:picLocks noChangeAspect="1"/>
          </p:cNvPicPr>
          <p:nvPr/>
        </p:nvPicPr>
        <p:blipFill>
          <a:blip r:embed="rId5"/>
          <a:stretch>
            <a:fillRect/>
          </a:stretch>
        </p:blipFill>
        <p:spPr>
          <a:xfrm>
            <a:off x="793790" y="4511040"/>
            <a:ext cx="566976" cy="566976"/>
          </a:xfrm>
          <a:prstGeom prst="rect">
            <a:avLst/>
          </a:prstGeom>
        </p:spPr>
      </p:pic>
      <p:sp>
        <p:nvSpPr>
          <p:cNvPr id="11" name="Text 6"/>
          <p:cNvSpPr/>
          <p:nvPr/>
        </p:nvSpPr>
        <p:spPr>
          <a:xfrm>
            <a:off x="1644253" y="464570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Timed Questions</a:t>
            </a:r>
            <a:endParaRPr lang="en-US" sz="2200" dirty="0"/>
          </a:p>
        </p:txBody>
      </p:sp>
      <p:sp>
        <p:nvSpPr>
          <p:cNvPr id="12" name="Text 7"/>
          <p:cNvSpPr/>
          <p:nvPr/>
        </p:nvSpPr>
        <p:spPr>
          <a:xfrm>
            <a:off x="1644253" y="5136118"/>
            <a:ext cx="552914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Challenge and engage.</a:t>
            </a:r>
            <a:endParaRPr lang="en-US" sz="1750" dirty="0"/>
          </a:p>
        </p:txBody>
      </p:sp>
      <p:pic>
        <p:nvPicPr>
          <p:cNvPr id="13" name="Image 3" descr="preencoded.png"/>
          <p:cNvPicPr>
            <a:picLocks noChangeAspect="1"/>
          </p:cNvPicPr>
          <p:nvPr/>
        </p:nvPicPr>
        <p:blipFill>
          <a:blip r:embed="rId6"/>
          <a:stretch>
            <a:fillRect/>
          </a:stretch>
        </p:blipFill>
        <p:spPr>
          <a:xfrm>
            <a:off x="7456884" y="4511040"/>
            <a:ext cx="566976" cy="566976"/>
          </a:xfrm>
          <a:prstGeom prst="rect">
            <a:avLst/>
          </a:prstGeom>
        </p:spPr>
      </p:pic>
      <p:sp>
        <p:nvSpPr>
          <p:cNvPr id="14" name="Text 8"/>
          <p:cNvSpPr/>
          <p:nvPr/>
        </p:nvSpPr>
        <p:spPr>
          <a:xfrm>
            <a:off x="8307348" y="464570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Instant Evaluation</a:t>
            </a:r>
            <a:endParaRPr lang="en-US" sz="2200" dirty="0"/>
          </a:p>
        </p:txBody>
      </p:sp>
      <p:sp>
        <p:nvSpPr>
          <p:cNvPr id="15" name="Text 9"/>
          <p:cNvSpPr/>
          <p:nvPr/>
        </p:nvSpPr>
        <p:spPr>
          <a:xfrm>
            <a:off x="8307348" y="5136118"/>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Immediate feedback.</a:t>
            </a:r>
            <a:endParaRPr lang="en-US" sz="1750" dirty="0"/>
          </a:p>
        </p:txBody>
      </p:sp>
      <p:pic>
        <p:nvPicPr>
          <p:cNvPr id="16" name="Image 4" descr="preencoded.png"/>
          <p:cNvPicPr>
            <a:picLocks noChangeAspect="1"/>
          </p:cNvPicPr>
          <p:nvPr/>
        </p:nvPicPr>
        <p:blipFill>
          <a:blip r:embed="rId7"/>
          <a:stretch>
            <a:fillRect/>
          </a:stretch>
        </p:blipFill>
        <p:spPr>
          <a:xfrm>
            <a:off x="793790" y="5952649"/>
            <a:ext cx="566976" cy="566976"/>
          </a:xfrm>
          <a:prstGeom prst="rect">
            <a:avLst/>
          </a:prstGeom>
        </p:spPr>
      </p:pic>
      <p:sp>
        <p:nvSpPr>
          <p:cNvPr id="17" name="Text 10"/>
          <p:cNvSpPr/>
          <p:nvPr/>
        </p:nvSpPr>
        <p:spPr>
          <a:xfrm>
            <a:off x="1644253" y="60873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Detailed Explanations</a:t>
            </a:r>
            <a:endParaRPr lang="en-US" sz="2200" dirty="0"/>
          </a:p>
        </p:txBody>
      </p:sp>
      <p:sp>
        <p:nvSpPr>
          <p:cNvPr id="18" name="Text 11"/>
          <p:cNvSpPr/>
          <p:nvPr/>
        </p:nvSpPr>
        <p:spPr>
          <a:xfrm>
            <a:off x="1644253" y="6577727"/>
            <a:ext cx="552914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Enhance learning.</a:t>
            </a:r>
            <a:endParaRPr lang="en-US" sz="1750" dirty="0"/>
          </a:p>
        </p:txBody>
      </p:sp>
      <p:pic>
        <p:nvPicPr>
          <p:cNvPr id="19" name="Image 5" descr="preencoded.png"/>
          <p:cNvPicPr>
            <a:picLocks noChangeAspect="1"/>
          </p:cNvPicPr>
          <p:nvPr/>
        </p:nvPicPr>
        <p:blipFill>
          <a:blip r:embed="rId8"/>
          <a:stretch>
            <a:fillRect/>
          </a:stretch>
        </p:blipFill>
        <p:spPr>
          <a:xfrm>
            <a:off x="7456884" y="5952649"/>
            <a:ext cx="566976" cy="566976"/>
          </a:xfrm>
          <a:prstGeom prst="rect">
            <a:avLst/>
          </a:prstGeom>
        </p:spPr>
      </p:pic>
      <p:sp>
        <p:nvSpPr>
          <p:cNvPr id="20" name="Text 12"/>
          <p:cNvSpPr/>
          <p:nvPr/>
        </p:nvSpPr>
        <p:spPr>
          <a:xfrm>
            <a:off x="8307348" y="60873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Gelasio" pitchFamily="34" charset="0"/>
                <a:ea typeface="Gelasio" pitchFamily="34" charset="-122"/>
                <a:cs typeface="Gelasio" pitchFamily="34" charset="-120"/>
              </a:rPr>
              <a:t>Leaderboard</a:t>
            </a:r>
            <a:endParaRPr lang="en-US" sz="2200" dirty="0"/>
          </a:p>
        </p:txBody>
      </p:sp>
      <p:sp>
        <p:nvSpPr>
          <p:cNvPr id="21" name="Text 13"/>
          <p:cNvSpPr/>
          <p:nvPr/>
        </p:nvSpPr>
        <p:spPr>
          <a:xfrm>
            <a:off x="8307348" y="6577727"/>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Lato" pitchFamily="34" charset="0"/>
                <a:ea typeface="Lato" pitchFamily="34" charset="-122"/>
                <a:cs typeface="Lato" pitchFamily="34" charset="-120"/>
              </a:rPr>
              <a:t>Drive competition.</a:t>
            </a:r>
            <a:endParaRPr lang="en-US" sz="1750" dirty="0"/>
          </a:p>
        </p:txBody>
      </p:sp>
      <p:pic>
        <p:nvPicPr>
          <p:cNvPr id="23" name="Picture 22">
            <a:extLst>
              <a:ext uri="{FF2B5EF4-FFF2-40B4-BE49-F238E27FC236}">
                <a16:creationId xmlns:a16="http://schemas.microsoft.com/office/drawing/2014/main" id="{B68518CC-27A0-70FC-0D40-68E8D977BFF8}"/>
              </a:ext>
            </a:extLst>
          </p:cNvPr>
          <p:cNvPicPr>
            <a:picLocks noChangeAspect="1"/>
          </p:cNvPicPr>
          <p:nvPr/>
        </p:nvPicPr>
        <p:blipFill>
          <a:blip r:embed="rId9"/>
          <a:stretch>
            <a:fillRect/>
          </a:stretch>
        </p:blipFill>
        <p:spPr>
          <a:xfrm>
            <a:off x="1143000" y="0"/>
            <a:ext cx="12344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TotalTime>
  <Words>1040</Words>
  <Application>Microsoft Office PowerPoint</Application>
  <PresentationFormat>Custom</PresentationFormat>
  <Paragraphs>154</Paragraphs>
  <Slides>19</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Gelasio</vt:lpstr>
      <vt:lpstr>Calibri</vt:lpstr>
      <vt:lpstr>Arial</vt:lpstr>
      <vt:lpstr>Lato</vt:lpstr>
      <vt:lpstr>Times New Roman</vt:lpstr>
      <vt:lpstr>Office Theme</vt:lpstr>
      <vt:lpstr>NextHome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saksham pandey</cp:lastModifiedBy>
  <cp:revision>8</cp:revision>
  <dcterms:created xsi:type="dcterms:W3CDTF">2025-08-10T20:59:24Z</dcterms:created>
  <dcterms:modified xsi:type="dcterms:W3CDTF">2026-02-05T04:23:31Z</dcterms:modified>
</cp:coreProperties>
</file>